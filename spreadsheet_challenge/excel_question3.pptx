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2" r:id="rId2"/>
  </p:sldMasterIdLst>
  <p:notesMasterIdLst>
    <p:notesMasterId r:id="rId21"/>
  </p:notesMasterIdLst>
  <p:sldIdLst>
    <p:sldId id="256" r:id="rId3"/>
    <p:sldId id="257" r:id="rId4"/>
    <p:sldId id="260" r:id="rId5"/>
    <p:sldId id="272" r:id="rId6"/>
    <p:sldId id="273" r:id="rId7"/>
    <p:sldId id="258" r:id="rId8"/>
    <p:sldId id="259" r:id="rId9"/>
    <p:sldId id="261" r:id="rId10"/>
    <p:sldId id="262" r:id="rId11"/>
    <p:sldId id="267" r:id="rId12"/>
    <p:sldId id="263" r:id="rId13"/>
    <p:sldId id="264" r:id="rId14"/>
    <p:sldId id="265" r:id="rId15"/>
    <p:sldId id="268" r:id="rId16"/>
    <p:sldId id="269" r:id="rId17"/>
    <p:sldId id="270" r:id="rId18"/>
    <p:sldId id="271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Divider and Content slides" id="{197C2AC4-A27F-6F4C-B534-20437094981B}">
          <p14:sldIdLst>
            <p14:sldId id="256"/>
            <p14:sldId id="257"/>
            <p14:sldId id="260"/>
            <p14:sldId id="272"/>
            <p14:sldId id="273"/>
            <p14:sldId id="258"/>
            <p14:sldId id="259"/>
            <p14:sldId id="261"/>
            <p14:sldId id="262"/>
            <p14:sldId id="267"/>
          </p14:sldIdLst>
        </p14:section>
        <p14:section name="Content with images or graphics" id="{9530452F-DC07-764D-B524-EFDDA1F97673}">
          <p14:sldIdLst>
            <p14:sldId id="263"/>
            <p14:sldId id="264"/>
            <p14:sldId id="265"/>
            <p14:sldId id="268"/>
            <p14:sldId id="269"/>
            <p14:sldId id="270"/>
            <p14:sldId id="271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738A"/>
    <a:srgbClr val="803134"/>
    <a:srgbClr val="002856"/>
    <a:srgbClr val="B68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53"/>
    <p:restoredTop sz="95921"/>
  </p:normalViewPr>
  <p:slideViewPr>
    <p:cSldViewPr snapToGrid="0" snapToObjects="1" showGuides="1">
      <p:cViewPr varScale="1">
        <p:scale>
          <a:sx n="115" d="100"/>
          <a:sy n="115" d="100"/>
        </p:scale>
        <p:origin x="21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dirty="0"/>
              <a:t>Bar Chart</a:t>
            </a:r>
            <a:r>
              <a:rPr lang="en-US" baseline="0" dirty="0"/>
              <a:t> Sample:</a:t>
            </a:r>
            <a:r>
              <a:rPr lang="en-US" dirty="0"/>
              <a:t>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285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4B-7D42-B6E7-08337D1830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4E738A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4B-7D42-B6E7-08337D1830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80313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4B-7D42-B6E7-08337D1830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07533007"/>
        <c:axId val="23887104"/>
      </c:barChart>
      <c:catAx>
        <c:axId val="1807533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3887104"/>
        <c:crosses val="autoZero"/>
        <c:auto val="1"/>
        <c:lblAlgn val="ctr"/>
        <c:lblOffset val="100"/>
        <c:noMultiLvlLbl val="0"/>
      </c:catAx>
      <c:valAx>
        <c:axId val="2388710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07533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Pie Chart Sample: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285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3A7-4B42-849A-11ABDA1AFC5F}"/>
              </c:ext>
            </c:extLst>
          </c:dPt>
          <c:dPt>
            <c:idx val="1"/>
            <c:bubble3D val="0"/>
            <c:spPr>
              <a:solidFill>
                <a:srgbClr val="4E738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A3A7-4B42-849A-11ABDA1AFC5F}"/>
              </c:ext>
            </c:extLst>
          </c:dPt>
          <c:dPt>
            <c:idx val="2"/>
            <c:bubble3D val="0"/>
            <c:spPr>
              <a:solidFill>
                <a:srgbClr val="80313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3A7-4B42-849A-11ABDA1AFC5F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A7-4B42-849A-11ABDA1AF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30065633291441"/>
          <c:y val="0.37431428395270316"/>
          <c:w val="0.2482373392273281"/>
          <c:h val="0.3296733785633012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60D92-2FAA-6B4B-9552-59A53B5F0B24}" type="datetimeFigureOut">
              <a:rPr lang="en-US" smtClean="0"/>
              <a:t>1/27/21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018B8-80E7-9D4D-A07F-5ADA60E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4E73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923F-FE92-614A-B950-36A0D00BB4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064" y="3408363"/>
            <a:ext cx="6014936" cy="1251186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9CFB5-532A-BF47-96C4-DF8940025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388029"/>
            <a:ext cx="368354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88255-C40D-E343-B309-6C5EB690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62694-5B26-274C-A557-59735F7D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8773" y="6336895"/>
            <a:ext cx="505839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276FF0-3802-8C4B-9249-7B15FE20F5E6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25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923F-FE92-614A-B950-36A0D00BB4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064" y="3408363"/>
            <a:ext cx="6014936" cy="1251186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9CFB5-532A-BF47-96C4-DF8940025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388029"/>
            <a:ext cx="368354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88255-C40D-E343-B309-6C5EB690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62694-5B26-274C-A557-59735F7D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8773" y="6336895"/>
            <a:ext cx="505839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144A14-3905-6340-B4E1-4EC9EF56B7BE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953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solidFill>
          <a:srgbClr val="803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923F-FE92-614A-B950-36A0D00BB4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064" y="3408363"/>
            <a:ext cx="6014936" cy="1251186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9CFB5-532A-BF47-96C4-DF8940025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388029"/>
            <a:ext cx="368354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88255-C40D-E343-B309-6C5EB690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62694-5B26-274C-A557-59735F7D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8773" y="6336895"/>
            <a:ext cx="505839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811E62-5550-DB47-A21D-EE98AC138A08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86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bg>
      <p:bgPr>
        <a:solidFill>
          <a:srgbClr val="B681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923F-FE92-614A-B950-36A0D00BB4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064" y="3408363"/>
            <a:ext cx="6014936" cy="1251186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9CFB5-532A-BF47-96C4-DF8940025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388029"/>
            <a:ext cx="368354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88255-C40D-E343-B309-6C5EB690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62694-5B26-274C-A557-59735F7D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8773" y="6336895"/>
            <a:ext cx="505839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208E4C-E5AE-0048-82AC-FBA1623D90CE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25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444E6C8-F24B-4F49-958F-C3FBA989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472" y="954091"/>
            <a:ext cx="42396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sz="48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F3830-0129-8248-A064-4018418EF1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0985" y="6461537"/>
            <a:ext cx="2049969" cy="15286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67E49A-285F-1440-93D8-60653FCAD3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0877" y="972766"/>
            <a:ext cx="5593403" cy="4873354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stem Font Regular"/>
              <a:buChar char="–"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stem Font Regular"/>
              <a:buChar char="–"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DC3DF2-0DA5-E24F-A8B6-02E5AB55F92A}"/>
              </a:ext>
            </a:extLst>
          </p:cNvPr>
          <p:cNvCxnSpPr>
            <a:cxnSpLocks/>
          </p:cNvCxnSpPr>
          <p:nvPr userDrawn="1"/>
        </p:nvCxnSpPr>
        <p:spPr>
          <a:xfrm>
            <a:off x="6050604" y="719846"/>
            <a:ext cx="5573949" cy="0"/>
          </a:xfrm>
          <a:prstGeom prst="line">
            <a:avLst/>
          </a:prstGeom>
          <a:ln w="508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953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444E6C8-F24B-4F49-958F-C3FBA989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471" y="943699"/>
            <a:ext cx="46891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sz="48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F3830-0129-8248-A064-4018418EF1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0985" y="6461537"/>
            <a:ext cx="2049969" cy="15286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67E49A-285F-1440-93D8-60653FCAD3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0877" y="972766"/>
            <a:ext cx="5593403" cy="4873354"/>
          </a:xfrm>
        </p:spPr>
        <p:txBody>
          <a:bodyPr/>
          <a:lstStyle>
            <a:lvl1pPr marL="236538" indent="-23653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b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5938" indent="-227013">
              <a:lnSpc>
                <a:spcPct val="100000"/>
              </a:lnSpc>
              <a:buFont typeface="System Font Regular"/>
              <a:buChar char="–"/>
              <a:tabLst/>
              <a:defRPr sz="22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2950" indent="-227013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79488" indent="-236538">
              <a:lnSpc>
                <a:spcPct val="100000"/>
              </a:lnSpc>
              <a:buFont typeface="System Font Regular"/>
              <a:buChar char="–"/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44588" indent="-165100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DC3DF2-0DA5-E24F-A8B6-02E5AB55F92A}"/>
              </a:ext>
            </a:extLst>
          </p:cNvPr>
          <p:cNvCxnSpPr>
            <a:cxnSpLocks/>
          </p:cNvCxnSpPr>
          <p:nvPr userDrawn="1"/>
        </p:nvCxnSpPr>
        <p:spPr>
          <a:xfrm>
            <a:off x="6050604" y="719846"/>
            <a:ext cx="5573949" cy="0"/>
          </a:xfrm>
          <a:prstGeom prst="line">
            <a:avLst/>
          </a:prstGeom>
          <a:ln w="508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883BEA-EC5E-9743-9491-BA8D88B6B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1" y="2930236"/>
            <a:ext cx="4724400" cy="2940628"/>
          </a:xfrm>
        </p:spPr>
        <p:txBody>
          <a:bodyPr/>
          <a:lstStyle>
            <a:lvl1pPr marL="236538" indent="-23653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b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7850" indent="-288925">
              <a:lnSpc>
                <a:spcPct val="100000"/>
              </a:lnSpc>
              <a:buFont typeface="System Font Regular"/>
              <a:buChar char="–"/>
              <a:tabLst/>
              <a:defRPr sz="22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4863" indent="-227013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31875" indent="-227013">
              <a:lnSpc>
                <a:spcPct val="100000"/>
              </a:lnSpc>
              <a:buFont typeface="System Font Regular"/>
              <a:buChar char="–"/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206500" indent="-174625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707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444E6C8-F24B-4F49-958F-C3FBA989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894" y="925770"/>
            <a:ext cx="10789788" cy="62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sz="48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F3830-0129-8248-A064-4018418EF1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0985" y="6461537"/>
            <a:ext cx="2049969" cy="15286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DC3DF2-0DA5-E24F-A8B6-02E5AB55F92A}"/>
              </a:ext>
            </a:extLst>
          </p:cNvPr>
          <p:cNvCxnSpPr>
            <a:cxnSpLocks/>
          </p:cNvCxnSpPr>
          <p:nvPr userDrawn="1"/>
        </p:nvCxnSpPr>
        <p:spPr>
          <a:xfrm>
            <a:off x="797859" y="719846"/>
            <a:ext cx="10826694" cy="0"/>
          </a:xfrm>
          <a:prstGeom prst="line">
            <a:avLst/>
          </a:prstGeom>
          <a:ln w="508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883BEA-EC5E-9743-9491-BA8D88B6B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7177" y="1863436"/>
            <a:ext cx="10802469" cy="4107058"/>
          </a:xfrm>
        </p:spPr>
        <p:txBody>
          <a:bodyPr/>
          <a:lstStyle>
            <a:lvl1pPr marL="236538" indent="-23653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b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7850" indent="-288925">
              <a:lnSpc>
                <a:spcPct val="100000"/>
              </a:lnSpc>
              <a:buFont typeface="System Font Regular"/>
              <a:buChar char="–"/>
              <a:tabLst/>
              <a:defRPr sz="22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4863" indent="-227013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31875" indent="-227013">
              <a:lnSpc>
                <a:spcPct val="100000"/>
              </a:lnSpc>
              <a:buFont typeface="System Font Regular"/>
              <a:buChar char="–"/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206500" indent="-174625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773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444E6C8-F24B-4F49-958F-C3FBA989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894" y="925770"/>
            <a:ext cx="10789788" cy="62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DC3DF2-0DA5-E24F-A8B6-02E5AB55F92A}"/>
              </a:ext>
            </a:extLst>
          </p:cNvPr>
          <p:cNvCxnSpPr>
            <a:cxnSpLocks/>
          </p:cNvCxnSpPr>
          <p:nvPr userDrawn="1"/>
        </p:nvCxnSpPr>
        <p:spPr>
          <a:xfrm>
            <a:off x="797859" y="719846"/>
            <a:ext cx="1082669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AD75256-90CB-8040-BB3E-D6E05B0DC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85" y="6461537"/>
            <a:ext cx="2049969" cy="15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9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rgbClr val="4E73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D75256-90CB-8040-BB3E-D6E05B0DC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85" y="6461537"/>
            <a:ext cx="2049969" cy="152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F6B67C-E605-924F-BFD7-C90DE2F1371E}"/>
              </a:ext>
            </a:extLst>
          </p:cNvPr>
          <p:cNvSpPr txBox="1"/>
          <p:nvPr userDrawn="1"/>
        </p:nvSpPr>
        <p:spPr>
          <a:xfrm>
            <a:off x="774700" y="-675503"/>
            <a:ext cx="28956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0" dirty="0">
                <a:solidFill>
                  <a:schemeClr val="bg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51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rgbClr val="803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AD75256-90CB-8040-BB3E-D6E05B0DC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85" y="6461537"/>
            <a:ext cx="2049969" cy="15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03B0-C6D6-C542-BCC9-50E820BB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C7CC2-ABAA-5149-AE81-AEE8852D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19018-7E27-564D-AF3A-27A6E98C1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CB975-3FD0-D94F-B768-F38760177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4706" y="6356350"/>
            <a:ext cx="449094" cy="365125"/>
          </a:xfrm>
          <a:prstGeom prst="rect">
            <a:avLst/>
          </a:prstGeom>
        </p:spPr>
        <p:txBody>
          <a:bodyPr/>
          <a:lstStyle/>
          <a:p>
            <a:fld id="{018EB630-4941-2B42-B900-9433B33C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76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03B0-C6D6-C542-BCC9-50E820BB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C7CC2-ABAA-5149-AE81-AEE8852D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19018-7E27-564D-AF3A-27A6E98C1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CB975-3FD0-D94F-B768-F38760177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4706" y="6356350"/>
            <a:ext cx="449094" cy="365125"/>
          </a:xfrm>
          <a:prstGeom prst="rect">
            <a:avLst/>
          </a:prstGeom>
        </p:spPr>
        <p:txBody>
          <a:bodyPr/>
          <a:lstStyle/>
          <a:p>
            <a:fld id="{018EB630-4941-2B42-B900-9433B33C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22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97DAB1-ADD5-CC4C-B991-D48AED6A4A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3988" y="168275"/>
            <a:ext cx="5867400" cy="658495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CB284-8B1D-0F40-89CD-C162B7658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8619" y="508220"/>
            <a:ext cx="5138737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3BF2A-B13C-6D4B-A160-E91479F99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5210" y="2067194"/>
            <a:ext cx="5207245" cy="4351338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5DB0A27-EB7D-3B41-BE03-300A31A2EE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180803" y="6336895"/>
            <a:ext cx="50583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7616B2-53F5-424A-AEA6-6A52FDD9AB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0985" y="6461537"/>
            <a:ext cx="2049969" cy="15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40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97DAB1-ADD5-CC4C-B991-D48AED6A4A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57" y="262059"/>
            <a:ext cx="5867400" cy="304384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CB284-8B1D-0F40-89CD-C162B7658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8619" y="508220"/>
            <a:ext cx="5138737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3BF2A-B13C-6D4B-A160-E91479F99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5210" y="2067194"/>
            <a:ext cx="5207245" cy="4351338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5DB0A27-EB7D-3B41-BE03-300A31A2EE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180803" y="6336895"/>
            <a:ext cx="50583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7616B2-53F5-424A-AEA6-6A52FDD9AB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0985" y="6461537"/>
            <a:ext cx="2049969" cy="152865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62E086D5-9A74-AF41-B87C-F4B4A3F8B3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557" y="3493476"/>
            <a:ext cx="5867400" cy="304384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758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490630-7069-514B-AADC-64816CFF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EF950B-2A87-9043-ADBB-DC7DF790971B}" type="datetimeFigureOut">
              <a:rPr lang="en-US" smtClean="0"/>
              <a:t>1/27/21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4F40D-C26E-B44C-BB16-1C1E7E55C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951BA-7952-944D-9394-21AD34F1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7680DC-528A-DC45-8AF5-7C57CFB7F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2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5FE413-CDD7-EA43-B7D8-F39DDF83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10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5F8BB-47DE-C244-BC20-CAAB1064D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51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2BCFB3-7AD3-FB48-BC89-56A400C7DD0D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85" y="6461537"/>
            <a:ext cx="2049969" cy="15286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D31D31-6391-994E-B8F9-59E623034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354817"/>
            <a:ext cx="10515600" cy="1170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here to edit subhead/secondary content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1F1B3CB-CAA4-BA47-8F84-6C7BED943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58773" y="6336895"/>
            <a:ext cx="505839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60" r:id="rId4"/>
    <p:sldLayoutId id="2147483650" r:id="rId5"/>
    <p:sldLayoutId id="2147483661" r:id="rId6"/>
    <p:sldLayoutId id="2147483674" r:id="rId7"/>
    <p:sldLayoutId id="2147483676" r:id="rId8"/>
    <p:sldLayoutId id="2147483677" r:id="rId9"/>
    <p:sldLayoutId id="2147483678" r:id="rId10"/>
    <p:sldLayoutId id="2147483654" r:id="rId11"/>
    <p:sldLayoutId id="2147483679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50475-E0F5-5F4E-904C-0E1EE071B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2" y="522288"/>
            <a:ext cx="51387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49CA5-9425-8640-A798-EDA3456D6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7924" y="1982788"/>
            <a:ext cx="50958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828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5" r:id="rId2"/>
    <p:sldLayoutId id="214748366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FC7892-9F4D-1B49-8314-9E2C78C5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0454"/>
            <a:ext cx="10515600" cy="1325563"/>
          </a:xfrm>
        </p:spPr>
        <p:txBody>
          <a:bodyPr anchor="t">
            <a:noAutofit/>
          </a:bodyPr>
          <a:lstStyle/>
          <a:p>
            <a:r>
              <a:rPr lang="en-US" sz="4800" dirty="0"/>
              <a:t>Excel Challenge – Question 3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CF220-1B40-9F46-84C3-26C48162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41120-AB1A-3045-BC54-BD62BD95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68EF1-8137-124E-A8C9-BDD5179904B1}"/>
              </a:ext>
            </a:extLst>
          </p:cNvPr>
          <p:cNvSpPr txBox="1"/>
          <p:nvPr/>
        </p:nvSpPr>
        <p:spPr>
          <a:xfrm>
            <a:off x="719847" y="5095141"/>
            <a:ext cx="10291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Andrew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Simor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Submission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542219-FB24-5C47-B0A2-E743027C4CD6}"/>
              </a:ext>
            </a:extLst>
          </p:cNvPr>
          <p:cNvCxnSpPr>
            <a:cxnSpLocks/>
          </p:cNvCxnSpPr>
          <p:nvPr/>
        </p:nvCxnSpPr>
        <p:spPr>
          <a:xfrm>
            <a:off x="913867" y="3098983"/>
            <a:ext cx="51821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0BAB2D8-5C4C-7548-BF79-BCE82A9B1894}"/>
              </a:ext>
            </a:extLst>
          </p:cNvPr>
          <p:cNvSpPr txBox="1"/>
          <p:nvPr/>
        </p:nvSpPr>
        <p:spPr>
          <a:xfrm>
            <a:off x="11857055" y="-5124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13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5A926E-0849-8B43-B263-8B4DFEF92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882579"/>
            <a:ext cx="8651488" cy="1251186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Policies in the US</a:t>
            </a:r>
            <a:br>
              <a:rPr lang="en-US" dirty="0"/>
            </a:br>
            <a:r>
              <a:rPr lang="en-US" sz="4000" b="0" i="1" dirty="0"/>
              <a:t>Focus: Risk of overconcentration in areas prone to earthquakes and floods.</a:t>
            </a:r>
            <a:endParaRPr lang="en-US" b="0" i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E8421B1-B39F-3547-ABC7-916504C4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615316"/>
            <a:ext cx="3683540" cy="1655762"/>
          </a:xfrm>
        </p:spPr>
        <p:txBody>
          <a:bodyPr/>
          <a:lstStyle/>
          <a:p>
            <a:r>
              <a:rPr lang="en-US" dirty="0"/>
              <a:t>Pros, Cons, Risks, and Opportunities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47EDF-C609-514F-9F74-8D514A0B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53D793-D77B-C145-8664-220827A6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C7A660-ADFA-A647-941D-CEDEC719D747}"/>
              </a:ext>
            </a:extLst>
          </p:cNvPr>
          <p:cNvCxnSpPr/>
          <p:nvPr/>
        </p:nvCxnSpPr>
        <p:spPr>
          <a:xfrm>
            <a:off x="7928043" y="3429000"/>
            <a:ext cx="373542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43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8990-D9D2-4545-852F-C39B5D6143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9688" y="766492"/>
            <a:ext cx="11506826" cy="5400132"/>
          </a:xfrm>
        </p:spPr>
        <p:txBody>
          <a:bodyPr>
            <a:normAutofit fontScale="92500" lnSpcReduction="10000"/>
          </a:bodyPr>
          <a:lstStyle/>
          <a:p>
            <a:pPr marL="241300" indent="-241300">
              <a:lnSpc>
                <a:spcPct val="100000"/>
              </a:lnSpc>
            </a:pPr>
            <a:r>
              <a:rPr lang="en-US" sz="1500" dirty="0"/>
              <a:t>As of 2021, we are liable for ~$2.5B in insured policies across 10 states, 4 regions:</a:t>
            </a:r>
          </a:p>
          <a:p>
            <a:pPr marL="584200" lvl="1" indent="-241300">
              <a:lnSpc>
                <a:spcPct val="100000"/>
              </a:lnSpc>
            </a:pPr>
            <a:r>
              <a:rPr lang="en-US" sz="1500" dirty="0"/>
              <a:t>IL, ME, MI, MN, NH, NJ, NY, OH, VT, WI</a:t>
            </a:r>
          </a:p>
          <a:p>
            <a:pPr marL="584200" lvl="1" indent="-241300">
              <a:lnSpc>
                <a:spcPct val="100000"/>
              </a:lnSpc>
            </a:pPr>
            <a:r>
              <a:rPr lang="en-US" sz="1500" b="0" dirty="0"/>
              <a:t>NY ha</a:t>
            </a:r>
            <a:r>
              <a:rPr lang="en-US" sz="1500" dirty="0"/>
              <a:t>s the highest concentration </a:t>
            </a:r>
            <a:r>
              <a:rPr lang="en-US" sz="1500" b="0" dirty="0"/>
              <a:t>of our insured policies (261) accounting for a total insured value of ~$1.5B</a:t>
            </a:r>
          </a:p>
          <a:p>
            <a:pPr marL="1041400" lvl="2" indent="-241300">
              <a:lnSpc>
                <a:spcPct val="100000"/>
              </a:lnSpc>
            </a:pPr>
            <a:r>
              <a:rPr lang="en-US" sz="1500" dirty="0"/>
              <a:t>NY accounts for 60.1% of total insured value, Wisconsin and NJ are the 2</a:t>
            </a:r>
            <a:r>
              <a:rPr lang="en-US" sz="1500" baseline="30000" dirty="0"/>
              <a:t>nd</a:t>
            </a:r>
            <a:r>
              <a:rPr lang="en-US" sz="1500" dirty="0"/>
              <a:t> and 3</a:t>
            </a:r>
            <a:r>
              <a:rPr lang="en-US" sz="1500" baseline="30000" dirty="0"/>
              <a:t>rd</a:t>
            </a:r>
            <a:r>
              <a:rPr lang="en-US" sz="1500" dirty="0"/>
              <a:t> largest</a:t>
            </a:r>
          </a:p>
          <a:p>
            <a:pPr marL="241300" indent="-241300">
              <a:lnSpc>
                <a:spcPct val="100000"/>
              </a:lnSpc>
            </a:pPr>
            <a:r>
              <a:rPr lang="en-US" sz="1500" dirty="0"/>
              <a:t>Regionally the East and Midwest contain the most variance in insured amount, we have less penetration in the Northeast, and Central regions. </a:t>
            </a:r>
          </a:p>
          <a:p>
            <a:pPr marL="241300" indent="-241300">
              <a:lnSpc>
                <a:spcPct val="100000"/>
              </a:lnSpc>
            </a:pPr>
            <a:endParaRPr lang="en-US" sz="1500" dirty="0"/>
          </a:p>
          <a:p>
            <a:pPr marL="241300" indent="-241300">
              <a:lnSpc>
                <a:spcPct val="100000"/>
              </a:lnSpc>
            </a:pPr>
            <a:endParaRPr lang="en-US" sz="1500" dirty="0"/>
          </a:p>
          <a:p>
            <a:pPr marL="241300" indent="-241300">
              <a:lnSpc>
                <a:spcPct val="100000"/>
              </a:lnSpc>
            </a:pPr>
            <a:endParaRPr lang="en-US" sz="1500" dirty="0"/>
          </a:p>
          <a:p>
            <a:pPr marL="241300" indent="-241300">
              <a:lnSpc>
                <a:spcPct val="100000"/>
              </a:lnSpc>
            </a:pPr>
            <a:endParaRPr lang="en-US" sz="1500" dirty="0"/>
          </a:p>
          <a:p>
            <a:pPr marL="241300" indent="-241300">
              <a:lnSpc>
                <a:spcPct val="100000"/>
              </a:lnSpc>
            </a:pPr>
            <a:endParaRPr lang="en-US" sz="1500" dirty="0"/>
          </a:p>
          <a:p>
            <a:pPr marL="241300" indent="-241300">
              <a:lnSpc>
                <a:spcPct val="100000"/>
              </a:lnSpc>
            </a:pPr>
            <a:endParaRPr lang="en-US" sz="1500" dirty="0"/>
          </a:p>
          <a:p>
            <a:pPr marL="241300" indent="-241300">
              <a:lnSpc>
                <a:spcPct val="100000"/>
              </a:lnSpc>
            </a:pPr>
            <a:endParaRPr lang="en-US" sz="1500" dirty="0"/>
          </a:p>
          <a:p>
            <a:pPr marL="241300" indent="-241300">
              <a:lnSpc>
                <a:spcPct val="100000"/>
              </a:lnSpc>
            </a:pPr>
            <a:endParaRPr lang="en-US" sz="1500" dirty="0"/>
          </a:p>
          <a:p>
            <a:pPr marL="241300" indent="-241300">
              <a:lnSpc>
                <a:spcPct val="100000"/>
              </a:lnSpc>
            </a:pPr>
            <a:endParaRPr lang="en-US" sz="1500" dirty="0"/>
          </a:p>
          <a:p>
            <a:pPr marL="241300" indent="-241300">
              <a:lnSpc>
                <a:spcPct val="100000"/>
              </a:lnSpc>
            </a:pPr>
            <a:endParaRPr lang="en-US" sz="1500" dirty="0"/>
          </a:p>
          <a:p>
            <a:pPr marL="241300" indent="-241300">
              <a:lnSpc>
                <a:spcPct val="100000"/>
              </a:lnSpc>
            </a:pPr>
            <a:r>
              <a:rPr lang="en-US" sz="2200" b="1" i="1" dirty="0"/>
              <a:t>Question</a:t>
            </a:r>
            <a:r>
              <a:rPr lang="en-US" sz="2200" b="0" i="1" dirty="0"/>
              <a:t>: </a:t>
            </a:r>
            <a:r>
              <a:rPr lang="en-US" sz="2200" i="1" dirty="0"/>
              <a:t>D</a:t>
            </a:r>
            <a:r>
              <a:rPr lang="en-US" sz="2200" b="0" i="1" dirty="0"/>
              <a:t>oes having 60.1% of our liable value in one state (NY) put us in a risky position?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FD1345-2095-BD4A-9382-115F08CE8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489" y="2229045"/>
            <a:ext cx="6346549" cy="32346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49DEAB-9D5D-374B-A96A-5E6AFA961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2489"/>
            <a:ext cx="10303727" cy="1325563"/>
          </a:xfrm>
        </p:spPr>
        <p:txBody>
          <a:bodyPr/>
          <a:lstStyle/>
          <a:p>
            <a:r>
              <a:rPr lang="en-US" sz="4000" dirty="0"/>
              <a:t>Overview of Policies Geographically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F3795B-E0C4-D441-81E4-0CFDF969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B96323E-D3E0-4D40-A626-4387DBB992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1C62B0-69FD-DB41-A5FE-44234F469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071" y="2262497"/>
            <a:ext cx="3838814" cy="323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7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DEAB-9D5D-374B-A96A-5E6AFA961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16" y="-244814"/>
            <a:ext cx="5975284" cy="1325563"/>
          </a:xfrm>
        </p:spPr>
        <p:txBody>
          <a:bodyPr/>
          <a:lstStyle/>
          <a:p>
            <a:r>
              <a:rPr lang="en-US" sz="4000" dirty="0"/>
              <a:t>At Risk Policies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F3795B-E0C4-D441-81E4-0CFDF969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B96323E-D3E0-4D40-A626-4387DBB992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8990-D9D2-4545-852F-C39B5D6143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7144" y="833398"/>
            <a:ext cx="10933286" cy="4873354"/>
          </a:xfrm>
        </p:spPr>
        <p:txBody>
          <a:bodyPr>
            <a:normAutofit/>
          </a:bodyPr>
          <a:lstStyle/>
          <a:p>
            <a:pPr marL="241300" indent="-241300">
              <a:lnSpc>
                <a:spcPct val="100000"/>
              </a:lnSpc>
            </a:pPr>
            <a:r>
              <a:rPr lang="en-US" sz="1600" b="1" i="1" dirty="0"/>
              <a:t>Assumption</a:t>
            </a:r>
            <a:r>
              <a:rPr lang="en-US" sz="1600" dirty="0"/>
              <a:t>: we consider any policy in a flood or earthquake zone as </a:t>
            </a:r>
            <a:r>
              <a:rPr lang="en-US" sz="1600" b="1" i="1" dirty="0"/>
              <a:t>at risk.</a:t>
            </a:r>
          </a:p>
          <a:p>
            <a:pPr marL="584200" lvl="1" indent="-241300">
              <a:lnSpc>
                <a:spcPct val="100000"/>
              </a:lnSpc>
            </a:pPr>
            <a:r>
              <a:rPr lang="en-US" sz="1600" i="1" dirty="0"/>
              <a:t>Under this assumption, </a:t>
            </a:r>
            <a:r>
              <a:rPr lang="en-US" sz="1600" b="1" i="1" dirty="0"/>
              <a:t>78.4% of our insured value lies in zones at risk of flooding, earthquakes, or both</a:t>
            </a:r>
          </a:p>
          <a:p>
            <a:pPr marL="241300" indent="-241300">
              <a:lnSpc>
                <a:spcPct val="100000"/>
              </a:lnSpc>
            </a:pPr>
            <a:r>
              <a:rPr lang="en-US" sz="1600" dirty="0"/>
              <a:t>By State, we observe some variance in % of total insured value at risk:</a:t>
            </a:r>
          </a:p>
          <a:p>
            <a:pPr marL="584200" lvl="1" indent="-241300">
              <a:lnSpc>
                <a:spcPct val="100000"/>
              </a:lnSpc>
            </a:pPr>
            <a:r>
              <a:rPr lang="en-US" sz="1600" b="1" dirty="0"/>
              <a:t>Pros:</a:t>
            </a:r>
            <a:r>
              <a:rPr lang="en-US" sz="1600" dirty="0"/>
              <a:t> WI is less prone to earthquake/flood risk, the Midwest could prove to be an opportunity</a:t>
            </a:r>
          </a:p>
          <a:p>
            <a:pPr marL="584200" lvl="1" indent="-241300">
              <a:lnSpc>
                <a:spcPct val="100000"/>
              </a:lnSpc>
            </a:pPr>
            <a:r>
              <a:rPr lang="en-US" sz="1600" b="1" dirty="0"/>
              <a:t>Cons:</a:t>
            </a:r>
            <a:r>
              <a:rPr lang="en-US" sz="1600" dirty="0"/>
              <a:t> NY and NJ will prove to be huge liabilities should earthquakes or flooding strike the area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FD6138-4EBB-CD4A-8243-51FDD27F5D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889"/>
          <a:stretch/>
        </p:blipFill>
        <p:spPr>
          <a:xfrm>
            <a:off x="160858" y="2807076"/>
            <a:ext cx="5309415" cy="31503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28E51-6376-B14B-80CE-06A55288D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558" y="2834722"/>
            <a:ext cx="6476240" cy="318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60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F3795B-E0C4-D441-81E4-0CFDF969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B96323E-D3E0-4D40-A626-4387DBB992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8990-D9D2-4545-852F-C39B5D6143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195" y="799946"/>
            <a:ext cx="11382993" cy="4873354"/>
          </a:xfrm>
        </p:spPr>
        <p:txBody>
          <a:bodyPr>
            <a:normAutofit/>
          </a:bodyPr>
          <a:lstStyle/>
          <a:p>
            <a:pPr marL="241300" indent="-241300">
              <a:lnSpc>
                <a:spcPct val="100000"/>
              </a:lnSpc>
            </a:pPr>
            <a:r>
              <a:rPr lang="en-US" sz="2000" b="1" i="1" dirty="0"/>
              <a:t>Q: How can we protect ourselves should natural disaster strike the Tri-State area?</a:t>
            </a:r>
          </a:p>
          <a:p>
            <a:pPr marL="241300" indent="-241300">
              <a:lnSpc>
                <a:spcPct val="100000"/>
              </a:lnSpc>
            </a:pPr>
            <a:r>
              <a:rPr lang="en-US" sz="2000" b="1" i="1" dirty="0"/>
              <a:t>A: Hedge our bets</a:t>
            </a:r>
            <a:r>
              <a:rPr lang="en-US" sz="2000" b="1" dirty="0"/>
              <a:t>:  </a:t>
            </a:r>
          </a:p>
          <a:p>
            <a:pPr marL="8001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600" dirty="0"/>
              <a:t>Diversify sales prospects geographically, focus on growth outside of the Eastern region</a:t>
            </a:r>
          </a:p>
          <a:p>
            <a:pPr marL="8001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600" dirty="0"/>
              <a:t>Prioritize renewals on lower risk policies as a safety net for the riskier high value policies.</a:t>
            </a:r>
          </a:p>
          <a:p>
            <a:pPr marL="1257300" lvl="2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200" dirty="0"/>
              <a:t>Opportunity for low risk renewals is consistent in the Midwest throughout the year, we must retain these policies through the year. </a:t>
            </a:r>
          </a:p>
          <a:p>
            <a:pPr marL="1257300" lvl="2" indent="-457200">
              <a:lnSpc>
                <a:spcPct val="100000"/>
              </a:lnSpc>
              <a:buFont typeface="+mj-lt"/>
              <a:buAutoNum type="arabicPeriod"/>
            </a:pPr>
            <a:endParaRPr lang="en-US" sz="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B72AF0-F8F2-1944-9D2E-54270DF4A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16" y="3029069"/>
            <a:ext cx="5966078" cy="3136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EABB68-2366-4B4C-80A6-BA4792680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692" y="3029069"/>
            <a:ext cx="5969357" cy="31682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5BE28F5-F52F-454B-92C9-8C30A984F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16" y="-244814"/>
            <a:ext cx="5975284" cy="1325563"/>
          </a:xfrm>
        </p:spPr>
        <p:txBody>
          <a:bodyPr/>
          <a:lstStyle/>
          <a:p>
            <a:r>
              <a:rPr lang="en-US" sz="4000" i="1" dirty="0"/>
              <a:t>Proposed Strategy</a:t>
            </a:r>
          </a:p>
        </p:txBody>
      </p:sp>
    </p:spTree>
    <p:extLst>
      <p:ext uri="{BB962C8B-B14F-4D97-AF65-F5344CB8AC3E}">
        <p14:creationId xmlns:p14="http://schemas.microsoft.com/office/powerpoint/2010/main" val="431165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5A926E-0849-8B43-B263-8B4DFEF92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3064" y="3281111"/>
            <a:ext cx="6014936" cy="1251186"/>
          </a:xfrm>
        </p:spPr>
        <p:txBody>
          <a:bodyPr anchor="t">
            <a:normAutofit/>
          </a:bodyPr>
          <a:lstStyle/>
          <a:p>
            <a:r>
              <a:rPr lang="en-US" dirty="0"/>
              <a:t>Appendix Slides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E8421B1-B39F-3547-ABC7-916504C4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611773"/>
            <a:ext cx="3683540" cy="1655762"/>
          </a:xfrm>
        </p:spPr>
        <p:txBody>
          <a:bodyPr/>
          <a:lstStyle/>
          <a:p>
            <a:r>
              <a:rPr lang="en-US" dirty="0"/>
              <a:t>Visuals and Links to Code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6CD4D-49B8-A641-8302-F325C068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55CB9-84C0-0240-871B-AA62AA31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C7A660-ADFA-A647-941D-CEDEC719D747}"/>
              </a:ext>
            </a:extLst>
          </p:cNvPr>
          <p:cNvCxnSpPr/>
          <p:nvPr/>
        </p:nvCxnSpPr>
        <p:spPr>
          <a:xfrm>
            <a:off x="7928043" y="3429000"/>
            <a:ext cx="373542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64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5A926E-0849-8B43-B263-8B4DFEF92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3064" y="3281111"/>
            <a:ext cx="6014936" cy="1251186"/>
          </a:xfrm>
        </p:spPr>
        <p:txBody>
          <a:bodyPr anchor="t">
            <a:normAutofit/>
          </a:bodyPr>
          <a:lstStyle/>
          <a:p>
            <a:r>
              <a:rPr lang="en-US" dirty="0"/>
              <a:t>New section/divider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E8421B1-B39F-3547-ABC7-916504C4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610852"/>
            <a:ext cx="3683540" cy="1655762"/>
          </a:xfrm>
        </p:spPr>
        <p:txBody>
          <a:bodyPr/>
          <a:lstStyle/>
          <a:p>
            <a:r>
              <a:rPr lang="en-US" dirty="0"/>
              <a:t>Fill in sub-bullet or presenter name.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6241F-23B0-C845-85A1-BF923F766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A9F126-857A-4042-A3F8-CCDF16FF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C7A660-ADFA-A647-941D-CEDEC719D747}"/>
              </a:ext>
            </a:extLst>
          </p:cNvPr>
          <p:cNvCxnSpPr/>
          <p:nvPr/>
        </p:nvCxnSpPr>
        <p:spPr>
          <a:xfrm>
            <a:off x="7928043" y="3429000"/>
            <a:ext cx="373542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79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EDA1-3060-304F-86F0-37B31E17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Links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C0309-A3D7-4640-ABD7-0165E52BF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952F9-B8F5-3D4F-8743-6CAFE8CFBC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ACF8D5-CE9A-CE4A-86D2-132EFE1FFC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0877" y="972766"/>
            <a:ext cx="5593403" cy="4929270"/>
          </a:xfrm>
        </p:spPr>
        <p:txBody>
          <a:bodyPr/>
          <a:lstStyle/>
          <a:p>
            <a:pPr marL="241300" indent="-241300"/>
            <a:r>
              <a:rPr lang="en-US" dirty="0" err="1"/>
              <a:t>Github</a:t>
            </a:r>
            <a:r>
              <a:rPr lang="en-US" dirty="0"/>
              <a:t> Repository Containing Notebook: </a:t>
            </a:r>
          </a:p>
          <a:p>
            <a:pPr marL="520700" lvl="1" indent="-241300"/>
            <a:r>
              <a:rPr lang="en-US"/>
              <a:t>Link: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8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B0F25-B282-6B4F-87D2-8D6B2E621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slide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FACA1-A13A-0F4A-AE03-D3A360A5D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D0D8B-D3E6-C042-99DB-A8F7AF6CFD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3BFF8-FDE2-AF4B-9D74-E2E64683D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Header 1 here</a:t>
            </a:r>
          </a:p>
          <a:p>
            <a:pPr lvl="1" indent="-279400"/>
            <a:r>
              <a:rPr lang="en-US" dirty="0"/>
              <a:t>Bullet one content goes here</a:t>
            </a:r>
          </a:p>
          <a:p>
            <a:pPr lvl="2" indent="-288925">
              <a:tabLst>
                <a:tab pos="338138" algn="l"/>
              </a:tabLst>
            </a:pPr>
            <a:r>
              <a:rPr lang="en-US" sz="1800" dirty="0"/>
              <a:t>Sub-bullet content goes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8580-5FED-1F41-96B1-7E97274A1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or Callouts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5DCFD2-DB47-D242-831F-6A0A8E85D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310EE-3FE2-624B-9E60-4AF2A35DB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9C846E-964E-1745-B4BD-65C5FA89A22F}"/>
              </a:ext>
            </a:extLst>
          </p:cNvPr>
          <p:cNvSpPr/>
          <p:nvPr/>
        </p:nvSpPr>
        <p:spPr>
          <a:xfrm>
            <a:off x="874644" y="2117035"/>
            <a:ext cx="725556" cy="665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67F210-4BD2-BC4B-8436-B0AD0B97EAAD}"/>
              </a:ext>
            </a:extLst>
          </p:cNvPr>
          <p:cNvSpPr/>
          <p:nvPr/>
        </p:nvSpPr>
        <p:spPr>
          <a:xfrm>
            <a:off x="4588565" y="2117035"/>
            <a:ext cx="725556" cy="665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F1DA57-8CE9-D442-8EE4-FDC48F1C8F21}"/>
              </a:ext>
            </a:extLst>
          </p:cNvPr>
          <p:cNvSpPr/>
          <p:nvPr/>
        </p:nvSpPr>
        <p:spPr>
          <a:xfrm>
            <a:off x="8249478" y="2117035"/>
            <a:ext cx="725556" cy="665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8DBD0E-96E3-AC48-9EB6-A087CD8BF50F}"/>
              </a:ext>
            </a:extLst>
          </p:cNvPr>
          <p:cNvSpPr txBox="1"/>
          <p:nvPr/>
        </p:nvSpPr>
        <p:spPr>
          <a:xfrm>
            <a:off x="954156" y="2156791"/>
            <a:ext cx="596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6C3975-3DB1-2942-B162-FC4A7FC46521}"/>
              </a:ext>
            </a:extLst>
          </p:cNvPr>
          <p:cNvSpPr txBox="1"/>
          <p:nvPr/>
        </p:nvSpPr>
        <p:spPr>
          <a:xfrm>
            <a:off x="4664765" y="2156791"/>
            <a:ext cx="596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1ED1C-EF75-4E4F-9CBE-847ABC530F73}"/>
              </a:ext>
            </a:extLst>
          </p:cNvPr>
          <p:cNvSpPr txBox="1"/>
          <p:nvPr/>
        </p:nvSpPr>
        <p:spPr>
          <a:xfrm>
            <a:off x="8325678" y="2156791"/>
            <a:ext cx="596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DD13EE-FE98-D24A-A3E7-4CFC675FFB33}"/>
              </a:ext>
            </a:extLst>
          </p:cNvPr>
          <p:cNvCxnSpPr/>
          <p:nvPr/>
        </p:nvCxnSpPr>
        <p:spPr>
          <a:xfrm>
            <a:off x="1739348" y="2136913"/>
            <a:ext cx="2276061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F23FE7-AF2C-614B-AAF9-B62A6DD668AF}"/>
              </a:ext>
            </a:extLst>
          </p:cNvPr>
          <p:cNvCxnSpPr/>
          <p:nvPr/>
        </p:nvCxnSpPr>
        <p:spPr>
          <a:xfrm>
            <a:off x="5486400" y="2136913"/>
            <a:ext cx="2276061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6F600E-8284-5645-9426-450FD5C648B5}"/>
              </a:ext>
            </a:extLst>
          </p:cNvPr>
          <p:cNvCxnSpPr/>
          <p:nvPr/>
        </p:nvCxnSpPr>
        <p:spPr>
          <a:xfrm>
            <a:off x="9144000" y="2136913"/>
            <a:ext cx="2276061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3190C97-4949-C24A-BB73-225DBBAA5901}"/>
              </a:ext>
            </a:extLst>
          </p:cNvPr>
          <p:cNvSpPr txBox="1"/>
          <p:nvPr/>
        </p:nvSpPr>
        <p:spPr>
          <a:xfrm>
            <a:off x="1689651" y="2276061"/>
            <a:ext cx="2415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Headline here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4E7064-3610-B845-BED2-DBA4045FFE21}"/>
              </a:ext>
            </a:extLst>
          </p:cNvPr>
          <p:cNvSpPr txBox="1"/>
          <p:nvPr/>
        </p:nvSpPr>
        <p:spPr>
          <a:xfrm>
            <a:off x="5410200" y="2276061"/>
            <a:ext cx="2415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Headline here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645184-C783-BE49-8413-F6B70671250F}"/>
              </a:ext>
            </a:extLst>
          </p:cNvPr>
          <p:cNvSpPr txBox="1"/>
          <p:nvPr/>
        </p:nvSpPr>
        <p:spPr>
          <a:xfrm>
            <a:off x="9124122" y="2276061"/>
            <a:ext cx="2415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Headline here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3DABA47-E514-7246-8F6F-6126C9F95BDC}"/>
              </a:ext>
            </a:extLst>
          </p:cNvPr>
          <p:cNvSpPr txBox="1">
            <a:spLocks/>
          </p:cNvSpPr>
          <p:nvPr/>
        </p:nvSpPr>
        <p:spPr>
          <a:xfrm>
            <a:off x="791820" y="3168775"/>
            <a:ext cx="3273284" cy="29406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4950" indent="-225425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one content </a:t>
            </a:r>
            <a:br>
              <a:rPr 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goes here</a:t>
            </a:r>
          </a:p>
          <a:p>
            <a:pPr marL="520700" lvl="1" indent="-285750">
              <a:buFont typeface="System Font Regular"/>
              <a:buChar char="–"/>
              <a:tabLst>
                <a:tab pos="338138" algn="l"/>
              </a:tabLs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content 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goes here</a:t>
            </a:r>
          </a:p>
          <a:p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8D45355-9969-7441-8314-E2D8BF2F0D50}"/>
              </a:ext>
            </a:extLst>
          </p:cNvPr>
          <p:cNvSpPr txBox="1">
            <a:spLocks/>
          </p:cNvSpPr>
          <p:nvPr/>
        </p:nvSpPr>
        <p:spPr>
          <a:xfrm>
            <a:off x="4572000" y="3168775"/>
            <a:ext cx="3273284" cy="29406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4950" indent="-225425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one content </a:t>
            </a:r>
            <a:br>
              <a:rPr 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goes here</a:t>
            </a:r>
          </a:p>
          <a:p>
            <a:pPr marL="520700" lvl="1" indent="-285750">
              <a:buFont typeface="System Font Regular"/>
              <a:buChar char="–"/>
              <a:tabLst>
                <a:tab pos="338138" algn="l"/>
              </a:tabLs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content 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goes here</a:t>
            </a:r>
          </a:p>
          <a:p>
            <a:endParaRPr lang="en-US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2D6F3937-A4C2-DA44-B34A-7300BE73E00B}"/>
              </a:ext>
            </a:extLst>
          </p:cNvPr>
          <p:cNvSpPr txBox="1">
            <a:spLocks/>
          </p:cNvSpPr>
          <p:nvPr/>
        </p:nvSpPr>
        <p:spPr>
          <a:xfrm>
            <a:off x="8229600" y="3168775"/>
            <a:ext cx="3273284" cy="29406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4950" indent="-225425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one content </a:t>
            </a:r>
            <a:br>
              <a:rPr 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goes here</a:t>
            </a:r>
          </a:p>
          <a:p>
            <a:pPr marL="520700" lvl="1" indent="-285750">
              <a:buFont typeface="System Font Regular"/>
              <a:buChar char="–"/>
              <a:tabLst>
                <a:tab pos="338138" algn="l"/>
              </a:tabLs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content 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goes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7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0CA92E-52EC-A645-8E74-0EFF6E049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2526"/>
            <a:ext cx="6162805" cy="6858000"/>
          </a:xfrm>
        </p:spPr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C276E96-E581-C24D-9E44-63C25867F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8862" y="351946"/>
            <a:ext cx="5138737" cy="1325563"/>
          </a:xfrm>
        </p:spPr>
        <p:txBody>
          <a:bodyPr/>
          <a:lstStyle/>
          <a:p>
            <a:r>
              <a:rPr lang="en-US" dirty="0"/>
              <a:t>Content slide with photo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8F52CF4-7062-174D-A34A-6E5F50BF5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5210" y="1752804"/>
            <a:ext cx="5207245" cy="4515729"/>
          </a:xfrm>
        </p:spPr>
        <p:txBody>
          <a:bodyPr/>
          <a:lstStyle/>
          <a:p>
            <a:pPr marL="241300" indent="-241300"/>
            <a:r>
              <a:rPr lang="en-US" dirty="0"/>
              <a:t>Header 1 here</a:t>
            </a:r>
          </a:p>
          <a:p>
            <a:pPr marL="571500" lvl="1" indent="-285750">
              <a:buFont typeface="System Font Regular"/>
              <a:buChar char="–"/>
            </a:pPr>
            <a:r>
              <a:rPr lang="en-US" dirty="0"/>
              <a:t>Bullet one content goes here</a:t>
            </a:r>
          </a:p>
          <a:p>
            <a:pPr marL="804863" lvl="2" indent="-233363">
              <a:tabLst>
                <a:tab pos="338138" algn="l"/>
              </a:tabLst>
            </a:pPr>
            <a:r>
              <a:rPr lang="en-US" sz="1800" dirty="0"/>
              <a:t>Sub-bullet content goes here</a:t>
            </a:r>
          </a:p>
        </p:txBody>
      </p:sp>
    </p:spTree>
    <p:extLst>
      <p:ext uri="{BB962C8B-B14F-4D97-AF65-F5344CB8AC3E}">
        <p14:creationId xmlns:p14="http://schemas.microsoft.com/office/powerpoint/2010/main" val="182287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B3C8F95-7C70-1C40-BCE2-682A2A4244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17F282-174E-6A4E-B5F3-D5EAE9F96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9061" y="315704"/>
            <a:ext cx="5138737" cy="1325563"/>
          </a:xfrm>
        </p:spPr>
        <p:txBody>
          <a:bodyPr/>
          <a:lstStyle/>
          <a:p>
            <a:r>
              <a:rPr lang="en-US" dirty="0"/>
              <a:t>Content slide with </a:t>
            </a:r>
            <a:br>
              <a:rPr lang="en-US" dirty="0"/>
            </a:br>
            <a:r>
              <a:rPr lang="en-US" dirty="0"/>
              <a:t>2 photo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F3909-0FB8-9D4C-A008-2EA306843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652" y="1824574"/>
            <a:ext cx="5207245" cy="4346131"/>
          </a:xfrm>
        </p:spPr>
        <p:txBody>
          <a:bodyPr/>
          <a:lstStyle/>
          <a:p>
            <a:pPr marL="241300" indent="-241300"/>
            <a:r>
              <a:rPr lang="en-US" dirty="0"/>
              <a:t>Header 1 here</a:t>
            </a:r>
          </a:p>
          <a:p>
            <a:pPr marL="571500" lvl="1" indent="-285750">
              <a:buFont typeface="System Font Regular"/>
              <a:buChar char="–"/>
            </a:pPr>
            <a:r>
              <a:rPr lang="en-US" dirty="0"/>
              <a:t>Bullet one content goes here</a:t>
            </a:r>
          </a:p>
          <a:p>
            <a:pPr marL="804863" lvl="2" indent="-233363">
              <a:tabLst>
                <a:tab pos="338138" algn="l"/>
              </a:tabLst>
            </a:pPr>
            <a:r>
              <a:rPr lang="en-US" sz="1800" dirty="0"/>
              <a:t>Sub-bullet content goes here</a:t>
            </a:r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C84FB61-DEB1-094C-93A9-11D2D34E6F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151845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A9916B-3544-874C-9421-C85C46E3E4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880AB-358D-6545-8061-13C6ADCA460D}"/>
              </a:ext>
            </a:extLst>
          </p:cNvPr>
          <p:cNvSpPr txBox="1"/>
          <p:nvPr/>
        </p:nvSpPr>
        <p:spPr>
          <a:xfrm>
            <a:off x="3118980" y="3018773"/>
            <a:ext cx="5574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video or full-page image</a:t>
            </a:r>
          </a:p>
        </p:txBody>
      </p:sp>
    </p:spTree>
    <p:extLst>
      <p:ext uri="{BB962C8B-B14F-4D97-AF65-F5344CB8AC3E}">
        <p14:creationId xmlns:p14="http://schemas.microsoft.com/office/powerpoint/2010/main" val="181615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5FB38B-5E6E-F04D-A887-BDB830796B7B}"/>
              </a:ext>
            </a:extLst>
          </p:cNvPr>
          <p:cNvCxnSpPr>
            <a:cxnSpLocks/>
          </p:cNvCxnSpPr>
          <p:nvPr/>
        </p:nvCxnSpPr>
        <p:spPr>
          <a:xfrm rot="16200000">
            <a:off x="560111" y="2891367"/>
            <a:ext cx="8678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2A2F6B-A7AF-0F41-8D7D-3B517B34E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893" y="925770"/>
            <a:ext cx="10947645" cy="625125"/>
          </a:xfrm>
        </p:spPr>
        <p:txBody>
          <a:bodyPr/>
          <a:lstStyle/>
          <a:p>
            <a:r>
              <a:rPr lang="en-US" dirty="0"/>
              <a:t>Timeline or Chart slide headline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60128D-2D35-7C48-82B7-CE0D6F80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D48AE-E490-B045-B5B1-C904C7955D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14C4E7-C73B-DF4D-9083-3B14251D8D4E}"/>
              </a:ext>
            </a:extLst>
          </p:cNvPr>
          <p:cNvCxnSpPr>
            <a:cxnSpLocks/>
          </p:cNvCxnSpPr>
          <p:nvPr/>
        </p:nvCxnSpPr>
        <p:spPr>
          <a:xfrm>
            <a:off x="954362" y="3419061"/>
            <a:ext cx="36364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5F4CD46-4F1E-6040-B75E-36BE8BF73DB0}"/>
              </a:ext>
            </a:extLst>
          </p:cNvPr>
          <p:cNvGrpSpPr/>
          <p:nvPr/>
        </p:nvGrpSpPr>
        <p:grpSpPr>
          <a:xfrm>
            <a:off x="871905" y="3306234"/>
            <a:ext cx="233937" cy="233937"/>
            <a:chOff x="904462" y="3240157"/>
            <a:chExt cx="367747" cy="36774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A7DC052-9040-114E-A51C-929745C958DE}"/>
                </a:ext>
              </a:extLst>
            </p:cNvPr>
            <p:cNvSpPr/>
            <p:nvPr/>
          </p:nvSpPr>
          <p:spPr>
            <a:xfrm>
              <a:off x="904462" y="3240157"/>
              <a:ext cx="367747" cy="367747"/>
            </a:xfrm>
            <a:prstGeom prst="ellipse">
              <a:avLst/>
            </a:prstGeom>
            <a:solidFill>
              <a:srgbClr val="002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DBA8224-B43A-6B42-9790-B0B84F911882}"/>
                </a:ext>
              </a:extLst>
            </p:cNvPr>
            <p:cNvSpPr/>
            <p:nvPr/>
          </p:nvSpPr>
          <p:spPr>
            <a:xfrm>
              <a:off x="986366" y="3320039"/>
              <a:ext cx="207433" cy="2074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A5592AE-5D02-124D-A901-1CCBEDD63286}"/>
              </a:ext>
            </a:extLst>
          </p:cNvPr>
          <p:cNvSpPr txBox="1"/>
          <p:nvPr/>
        </p:nvSpPr>
        <p:spPr>
          <a:xfrm>
            <a:off x="619377" y="2158999"/>
            <a:ext cx="1346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Content entry here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62F769-F5D3-BD4C-96AC-D70EC7CFD866}"/>
              </a:ext>
            </a:extLst>
          </p:cNvPr>
          <p:cNvGrpSpPr/>
          <p:nvPr/>
        </p:nvGrpSpPr>
        <p:grpSpPr>
          <a:xfrm>
            <a:off x="1597727" y="3306234"/>
            <a:ext cx="233937" cy="233937"/>
            <a:chOff x="904462" y="3240157"/>
            <a:chExt cx="367747" cy="36774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B12694E-F2DF-F940-BC7A-CA73877CB7DB}"/>
                </a:ext>
              </a:extLst>
            </p:cNvPr>
            <p:cNvSpPr/>
            <p:nvPr/>
          </p:nvSpPr>
          <p:spPr>
            <a:xfrm>
              <a:off x="904462" y="3240157"/>
              <a:ext cx="367747" cy="367747"/>
            </a:xfrm>
            <a:prstGeom prst="ellipse">
              <a:avLst/>
            </a:prstGeom>
            <a:solidFill>
              <a:srgbClr val="002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F7179C0-134B-8844-BCF5-8B36AC6B296D}"/>
                </a:ext>
              </a:extLst>
            </p:cNvPr>
            <p:cNvSpPr/>
            <p:nvPr/>
          </p:nvSpPr>
          <p:spPr>
            <a:xfrm>
              <a:off x="986366" y="3320039"/>
              <a:ext cx="207433" cy="2074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F043C6-4B49-0446-A6DB-2D87EE86CCEB}"/>
              </a:ext>
            </a:extLst>
          </p:cNvPr>
          <p:cNvCxnSpPr>
            <a:cxnSpLocks/>
          </p:cNvCxnSpPr>
          <p:nvPr/>
        </p:nvCxnSpPr>
        <p:spPr>
          <a:xfrm rot="16200000">
            <a:off x="1276455" y="3939117"/>
            <a:ext cx="8678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EEB51F3-EDBA-F240-9606-2C3B2F52A97F}"/>
              </a:ext>
            </a:extLst>
          </p:cNvPr>
          <p:cNvSpPr txBox="1"/>
          <p:nvPr/>
        </p:nvSpPr>
        <p:spPr>
          <a:xfrm>
            <a:off x="1106481" y="4436589"/>
            <a:ext cx="1346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Content entry here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AD08D5-750B-A348-8699-FBB0F88E18D8}"/>
              </a:ext>
            </a:extLst>
          </p:cNvPr>
          <p:cNvCxnSpPr>
            <a:cxnSpLocks/>
          </p:cNvCxnSpPr>
          <p:nvPr/>
        </p:nvCxnSpPr>
        <p:spPr>
          <a:xfrm flipV="1">
            <a:off x="2458761" y="2782111"/>
            <a:ext cx="0" cy="5431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9E9294-6FA3-2D49-9C8A-2CD074523F2D}"/>
              </a:ext>
            </a:extLst>
          </p:cNvPr>
          <p:cNvGrpSpPr/>
          <p:nvPr/>
        </p:nvGrpSpPr>
        <p:grpSpPr>
          <a:xfrm>
            <a:off x="2336638" y="3306234"/>
            <a:ext cx="233937" cy="233937"/>
            <a:chOff x="904462" y="3240157"/>
            <a:chExt cx="367747" cy="36774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978FAD0-347E-BF42-A466-1ADD170A2F3B}"/>
                </a:ext>
              </a:extLst>
            </p:cNvPr>
            <p:cNvSpPr/>
            <p:nvPr/>
          </p:nvSpPr>
          <p:spPr>
            <a:xfrm>
              <a:off x="904462" y="3240157"/>
              <a:ext cx="367747" cy="367747"/>
            </a:xfrm>
            <a:prstGeom prst="ellipse">
              <a:avLst/>
            </a:prstGeom>
            <a:solidFill>
              <a:srgbClr val="002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91A752A-3A8B-594E-AEDB-C58340008695}"/>
                </a:ext>
              </a:extLst>
            </p:cNvPr>
            <p:cNvSpPr/>
            <p:nvPr/>
          </p:nvSpPr>
          <p:spPr>
            <a:xfrm>
              <a:off x="986366" y="3320039"/>
              <a:ext cx="207433" cy="2074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92BA816-52B5-B64B-A4EB-908366B62A81}"/>
              </a:ext>
            </a:extLst>
          </p:cNvPr>
          <p:cNvSpPr txBox="1"/>
          <p:nvPr/>
        </p:nvSpPr>
        <p:spPr>
          <a:xfrm>
            <a:off x="1934955" y="2496224"/>
            <a:ext cx="1346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Content entry here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4B0972C-70BC-8847-8DB0-56E0AFB5B4DF}"/>
              </a:ext>
            </a:extLst>
          </p:cNvPr>
          <p:cNvGrpSpPr/>
          <p:nvPr/>
        </p:nvGrpSpPr>
        <p:grpSpPr>
          <a:xfrm>
            <a:off x="3190666" y="3306235"/>
            <a:ext cx="233937" cy="233937"/>
            <a:chOff x="904462" y="3240157"/>
            <a:chExt cx="367747" cy="367747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57C7DB9-3D27-C74E-9B44-61D8630A2BBD}"/>
                </a:ext>
              </a:extLst>
            </p:cNvPr>
            <p:cNvSpPr/>
            <p:nvPr/>
          </p:nvSpPr>
          <p:spPr>
            <a:xfrm>
              <a:off x="904462" y="3240157"/>
              <a:ext cx="367747" cy="367747"/>
            </a:xfrm>
            <a:prstGeom prst="ellipse">
              <a:avLst/>
            </a:prstGeom>
            <a:solidFill>
              <a:srgbClr val="002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6C7C455-0CBE-154A-843D-6321E27C6012}"/>
                </a:ext>
              </a:extLst>
            </p:cNvPr>
            <p:cNvSpPr/>
            <p:nvPr/>
          </p:nvSpPr>
          <p:spPr>
            <a:xfrm>
              <a:off x="986366" y="3320039"/>
              <a:ext cx="207433" cy="2074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7DAD90-B676-5646-9403-C1C41B118895}"/>
              </a:ext>
            </a:extLst>
          </p:cNvPr>
          <p:cNvCxnSpPr>
            <a:cxnSpLocks/>
          </p:cNvCxnSpPr>
          <p:nvPr/>
        </p:nvCxnSpPr>
        <p:spPr>
          <a:xfrm flipV="1">
            <a:off x="3303311" y="3505202"/>
            <a:ext cx="0" cy="573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C4C1612-9999-5F4E-9D31-5BF458A69B50}"/>
              </a:ext>
            </a:extLst>
          </p:cNvPr>
          <p:cNvSpPr txBox="1"/>
          <p:nvPr/>
        </p:nvSpPr>
        <p:spPr>
          <a:xfrm>
            <a:off x="2699420" y="4131790"/>
            <a:ext cx="1346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Content entry here</a:t>
            </a:r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8E9742E0-C792-A54F-A389-CB67AAED75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947854"/>
              </p:ext>
            </p:extLst>
          </p:nvPr>
        </p:nvGraphicFramePr>
        <p:xfrm>
          <a:off x="5033913" y="2205870"/>
          <a:ext cx="3535051" cy="2762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9846904B-A125-3942-B79C-F2DBEF70B7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2977490"/>
              </p:ext>
            </p:extLst>
          </p:nvPr>
        </p:nvGraphicFramePr>
        <p:xfrm>
          <a:off x="8527069" y="2349107"/>
          <a:ext cx="3115035" cy="2497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0052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BAA67A-7816-4B44-8083-8CF9FBA4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37CD34-57F6-A149-8594-F2D5C75D5E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B17B4F-E84E-914C-A218-57AB7B59143A}"/>
              </a:ext>
            </a:extLst>
          </p:cNvPr>
          <p:cNvSpPr txBox="1"/>
          <p:nvPr/>
        </p:nvSpPr>
        <p:spPr>
          <a:xfrm>
            <a:off x="1346069" y="1530865"/>
            <a:ext cx="9359900" cy="367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Quote content here Lorem ipsum dolor sit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sed do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labore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dolore magna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aliqua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 minim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veniam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nostrud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exercitation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ullamco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laboris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nisi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aliquip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consequat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Duis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aute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irure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dolor in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reprehenderit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voluptate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cillum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dolore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fugiat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pariatur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Excepteur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occaecat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cupidatat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2000"/>
              </a:spcBef>
            </a:pPr>
            <a:r>
              <a:rPr lang="en-US" sz="2000" b="1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or date</a:t>
            </a:r>
          </a:p>
        </p:txBody>
      </p:sp>
    </p:spTree>
    <p:extLst>
      <p:ext uri="{BB962C8B-B14F-4D97-AF65-F5344CB8AC3E}">
        <p14:creationId xmlns:p14="http://schemas.microsoft.com/office/powerpoint/2010/main" val="121631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1FEE5-5004-2F43-8577-A8E91213F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7C3D8A-62B9-054E-AE64-AD73F3EFA6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E05125-1659-C74E-BCC1-A55AF03C39EA}"/>
              </a:ext>
            </a:extLst>
          </p:cNvPr>
          <p:cNvCxnSpPr>
            <a:cxnSpLocks/>
          </p:cNvCxnSpPr>
          <p:nvPr/>
        </p:nvCxnSpPr>
        <p:spPr>
          <a:xfrm>
            <a:off x="963563" y="1260243"/>
            <a:ext cx="51821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3AAAE5D-40CB-3F40-B234-B68BB15E2AE6}"/>
              </a:ext>
            </a:extLst>
          </p:cNvPr>
          <p:cNvSpPr txBox="1"/>
          <p:nvPr/>
        </p:nvSpPr>
        <p:spPr>
          <a:xfrm>
            <a:off x="839173" y="1491108"/>
            <a:ext cx="106504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 content here Lorem ipsum dolor sit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sed do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labore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dolore magna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aliqua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 minim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veniam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nostrud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exercitation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ullamco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laboris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nisi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aliquip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consequat</a:t>
            </a:r>
            <a:r>
              <a:rPr lang="en-US" sz="2800" spc="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071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B64E7-80DE-0449-93E1-5A234C15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0805"/>
            <a:ext cx="10515600" cy="1325563"/>
          </a:xfrm>
        </p:spPr>
        <p:txBody>
          <a:bodyPr/>
          <a:lstStyle/>
          <a:p>
            <a:r>
              <a:rPr lang="en-US" dirty="0"/>
              <a:t>Sign off/Thank You/Questions?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B1876-B1BB-674B-B32A-944AA338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BBC8F-84F7-9145-B459-AFB7404F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t>17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BB646F-DD61-EC45-9B9C-C93610057CB9}"/>
              </a:ext>
            </a:extLst>
          </p:cNvPr>
          <p:cNvCxnSpPr>
            <a:cxnSpLocks/>
          </p:cNvCxnSpPr>
          <p:nvPr/>
        </p:nvCxnSpPr>
        <p:spPr>
          <a:xfrm>
            <a:off x="913867" y="3098983"/>
            <a:ext cx="51821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43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3880AB-358D-6545-8061-13C6ADCA460D}"/>
              </a:ext>
            </a:extLst>
          </p:cNvPr>
          <p:cNvSpPr txBox="1"/>
          <p:nvPr/>
        </p:nvSpPr>
        <p:spPr>
          <a:xfrm>
            <a:off x="1001054" y="473320"/>
            <a:ext cx="5574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icons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6FE01B77-56FD-8544-8580-828F550C31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4126" y="1503862"/>
            <a:ext cx="399310" cy="698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FB7DC5-AF1F-8347-9881-9320F9EE6E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32972" y="1259073"/>
            <a:ext cx="1174315" cy="1174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A8298F-BBA6-1C4C-893F-1EFF1C097A5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41620" y="1505370"/>
            <a:ext cx="851811" cy="6917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33C4B7-CB24-A441-8856-5DDA7E25F78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0677" y="1590259"/>
            <a:ext cx="584623" cy="547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493B30-111E-D243-BB10-17AD3DD1FA5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4783" y="1517359"/>
            <a:ext cx="719203" cy="6230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0A90A6-793A-B84B-BF1F-E6060199E97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3191" y="1199488"/>
            <a:ext cx="1237737" cy="1237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1CC0DB-9C11-7F4C-90CC-8CAB9D37C6A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59655" y="1189426"/>
            <a:ext cx="1237737" cy="12377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0AE4CB-2448-7F4A-88D4-BFCB020C9B22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8552" y="3108492"/>
            <a:ext cx="1038137" cy="10381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442BD8-BFD7-5546-B7A3-A32599689F4B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32972" y="3054629"/>
            <a:ext cx="1312102" cy="13121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97A51C-834E-5B45-9EA6-7AC3FFB95C30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53014" y="2990864"/>
            <a:ext cx="1158363" cy="11583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CEB435-7DCB-B14C-B8C5-36685A44C3C9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76866" y="3181500"/>
            <a:ext cx="569860" cy="7770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8A9568-E83F-2A4A-9CD6-AFD54638812D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44395" y="2971800"/>
            <a:ext cx="1412629" cy="14126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A2043B-0174-074F-B4EB-5063DE4D72B3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33572" y="3261805"/>
            <a:ext cx="672512" cy="64327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C89437-44F5-4345-A3D8-9A9A2BEFE527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74243" y="3101982"/>
            <a:ext cx="923019" cy="9230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6DCBF73-B88C-C74A-9205-182AA00A3ECD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503" y="4932403"/>
            <a:ext cx="940189" cy="9401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ABF742-70FB-D840-AF4C-9101837B5F1E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12571" y="5048132"/>
            <a:ext cx="707098" cy="7070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BD31B4-5D19-7A43-A76D-B41C2F88174D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00286" y="5004230"/>
            <a:ext cx="811556" cy="6900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C1EABF5-0514-6945-A82F-83214EE2F02B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1689" y="4919462"/>
            <a:ext cx="864330" cy="8643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7B7B943-B5A4-A44A-9858-A1FEBD4EC145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4419" y="5123785"/>
            <a:ext cx="1070445" cy="48472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722996B-ECFA-C64D-92CC-D3E53F823192}"/>
              </a:ext>
            </a:extLst>
          </p:cNvPr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08082" y="4897753"/>
            <a:ext cx="835310" cy="83854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2991211-A1B6-0A42-BB25-43CF5F95AA47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71843" y="5080265"/>
            <a:ext cx="716144" cy="62892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A4B1928-98AD-514B-B29A-95CE2564B658}"/>
              </a:ext>
            </a:extLst>
          </p:cNvPr>
          <p:cNvSpPr txBox="1"/>
          <p:nvPr/>
        </p:nvSpPr>
        <p:spPr>
          <a:xfrm>
            <a:off x="745436" y="2345634"/>
            <a:ext cx="14212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Apps, </a:t>
            </a:r>
            <a:b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Ecommerce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6E1F9D-C61A-3142-93FF-6802D55F9E14}"/>
              </a:ext>
            </a:extLst>
          </p:cNvPr>
          <p:cNvSpPr txBox="1"/>
          <p:nvPr/>
        </p:nvSpPr>
        <p:spPr>
          <a:xfrm>
            <a:off x="2226366" y="2345634"/>
            <a:ext cx="14212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Questions, Conversation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2843DC-3119-B043-AD6B-E956CD976A2B}"/>
              </a:ext>
            </a:extLst>
          </p:cNvPr>
          <p:cNvSpPr txBox="1"/>
          <p:nvPr/>
        </p:nvSpPr>
        <p:spPr>
          <a:xfrm>
            <a:off x="3657600" y="2345634"/>
            <a:ext cx="14212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Objective, </a:t>
            </a:r>
          </a:p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B6D829-D3B1-8249-8D16-175DDBF0321F}"/>
              </a:ext>
            </a:extLst>
          </p:cNvPr>
          <p:cNvSpPr txBox="1"/>
          <p:nvPr/>
        </p:nvSpPr>
        <p:spPr>
          <a:xfrm>
            <a:off x="5029200" y="2345634"/>
            <a:ext cx="14212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Transform,</a:t>
            </a:r>
          </a:p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Adjust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B1A320-EF10-9F47-9F24-6F04B895B49D}"/>
              </a:ext>
            </a:extLst>
          </p:cNvPr>
          <p:cNvSpPr txBox="1"/>
          <p:nvPr/>
        </p:nvSpPr>
        <p:spPr>
          <a:xfrm>
            <a:off x="6795052" y="2345634"/>
            <a:ext cx="868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Finance, </a:t>
            </a:r>
            <a:b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DBC727-6DB2-3D46-983B-F8AEC87EA3FC}"/>
              </a:ext>
            </a:extLst>
          </p:cNvPr>
          <p:cNvSpPr txBox="1"/>
          <p:nvPr/>
        </p:nvSpPr>
        <p:spPr>
          <a:xfrm>
            <a:off x="7961243" y="2345634"/>
            <a:ext cx="1550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Online, </a:t>
            </a:r>
            <a:b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Working from Home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A451C1-5B8C-4C4F-ACA9-3E9FB059D2C5}"/>
              </a:ext>
            </a:extLst>
          </p:cNvPr>
          <p:cNvSpPr txBox="1"/>
          <p:nvPr/>
        </p:nvSpPr>
        <p:spPr>
          <a:xfrm>
            <a:off x="9631016" y="2345634"/>
            <a:ext cx="1292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Transformation, </a:t>
            </a:r>
            <a:b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9F2801-6450-3C48-8239-45FF46CD7DDA}"/>
              </a:ext>
            </a:extLst>
          </p:cNvPr>
          <p:cNvSpPr txBox="1"/>
          <p:nvPr/>
        </p:nvSpPr>
        <p:spPr>
          <a:xfrm>
            <a:off x="838200" y="4023806"/>
            <a:ext cx="1292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Health, </a:t>
            </a:r>
            <a:b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4B184B-A6A8-F241-BEDB-E1520FAE4D4C}"/>
              </a:ext>
            </a:extLst>
          </p:cNvPr>
          <p:cNvSpPr txBox="1"/>
          <p:nvPr/>
        </p:nvSpPr>
        <p:spPr>
          <a:xfrm>
            <a:off x="2286000" y="4023806"/>
            <a:ext cx="1292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Announcement, </a:t>
            </a:r>
          </a:p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Callout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11290C-79E8-6F40-BDFA-B6102B4A5266}"/>
              </a:ext>
            </a:extLst>
          </p:cNvPr>
          <p:cNvSpPr txBox="1"/>
          <p:nvPr/>
        </p:nvSpPr>
        <p:spPr>
          <a:xfrm>
            <a:off x="3733800" y="4023806"/>
            <a:ext cx="1292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Manager, Distribution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804513-A2BE-7046-A1E9-0D06CE856E83}"/>
              </a:ext>
            </a:extLst>
          </p:cNvPr>
          <p:cNvSpPr txBox="1"/>
          <p:nvPr/>
        </p:nvSpPr>
        <p:spPr>
          <a:xfrm>
            <a:off x="5145156" y="4023806"/>
            <a:ext cx="1292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Innovation, Ideas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9E4F4D-0758-7848-BC56-17A65E1A6C17}"/>
              </a:ext>
            </a:extLst>
          </p:cNvPr>
          <p:cNvSpPr txBox="1"/>
          <p:nvPr/>
        </p:nvSpPr>
        <p:spPr>
          <a:xfrm>
            <a:off x="6344478" y="4023806"/>
            <a:ext cx="18354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Employee Engagement, Support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85D46D-5A64-964F-B681-077E62A5B909}"/>
              </a:ext>
            </a:extLst>
          </p:cNvPr>
          <p:cNvSpPr txBox="1"/>
          <p:nvPr/>
        </p:nvSpPr>
        <p:spPr>
          <a:xfrm>
            <a:off x="7921487" y="4023806"/>
            <a:ext cx="18354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Survey, Forms, Documentation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9A0BE7-8EB4-8444-9873-F5C83A253877}"/>
              </a:ext>
            </a:extLst>
          </p:cNvPr>
          <p:cNvSpPr txBox="1"/>
          <p:nvPr/>
        </p:nvSpPr>
        <p:spPr>
          <a:xfrm>
            <a:off x="9438861" y="4023806"/>
            <a:ext cx="18354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Values, Foundation, Hierarchy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03637-F64E-8242-A47F-B0479966DBA5}"/>
              </a:ext>
            </a:extLst>
          </p:cNvPr>
          <p:cNvSpPr txBox="1"/>
          <p:nvPr/>
        </p:nvSpPr>
        <p:spPr>
          <a:xfrm>
            <a:off x="838201" y="5817296"/>
            <a:ext cx="14279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Recommendation,</a:t>
            </a:r>
          </a:p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Highlight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E4D5C4-87D3-8748-B71B-FF99B8D2D526}"/>
              </a:ext>
            </a:extLst>
          </p:cNvPr>
          <p:cNvSpPr txBox="1"/>
          <p:nvPr/>
        </p:nvSpPr>
        <p:spPr>
          <a:xfrm>
            <a:off x="2325756" y="5817296"/>
            <a:ext cx="1292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Question, Help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AA6BE9-BED6-A04B-8610-92EAAB3BFA48}"/>
              </a:ext>
            </a:extLst>
          </p:cNvPr>
          <p:cNvSpPr txBox="1"/>
          <p:nvPr/>
        </p:nvSpPr>
        <p:spPr>
          <a:xfrm>
            <a:off x="3733800" y="5817296"/>
            <a:ext cx="1292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Location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D39FB6-4B48-734F-A938-DBC285B95B7A}"/>
              </a:ext>
            </a:extLst>
          </p:cNvPr>
          <p:cNvSpPr txBox="1"/>
          <p:nvPr/>
        </p:nvSpPr>
        <p:spPr>
          <a:xfrm>
            <a:off x="5115339" y="5817296"/>
            <a:ext cx="1292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Career Growth,</a:t>
            </a:r>
          </a:p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Promotion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CFB6BD-4050-4A45-981D-2B195A612878}"/>
              </a:ext>
            </a:extLst>
          </p:cNvPr>
          <p:cNvSpPr txBox="1"/>
          <p:nvPr/>
        </p:nvSpPr>
        <p:spPr>
          <a:xfrm>
            <a:off x="6629400" y="5817296"/>
            <a:ext cx="1292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Community,</a:t>
            </a:r>
          </a:p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E1CF34-8898-7E48-A237-FF318BF8E9BA}"/>
              </a:ext>
            </a:extLst>
          </p:cNvPr>
          <p:cNvSpPr txBox="1"/>
          <p:nvPr/>
        </p:nvSpPr>
        <p:spPr>
          <a:xfrm>
            <a:off x="8140148" y="5817296"/>
            <a:ext cx="1292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Employees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4183E4-0864-1944-963D-873092F55DA6}"/>
              </a:ext>
            </a:extLst>
          </p:cNvPr>
          <p:cNvSpPr txBox="1"/>
          <p:nvPr/>
        </p:nvSpPr>
        <p:spPr>
          <a:xfrm>
            <a:off x="9677400" y="5817296"/>
            <a:ext cx="1292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Store</a:t>
            </a:r>
          </a:p>
        </p:txBody>
      </p:sp>
    </p:spTree>
    <p:extLst>
      <p:ext uri="{BB962C8B-B14F-4D97-AF65-F5344CB8AC3E}">
        <p14:creationId xmlns:p14="http://schemas.microsoft.com/office/powerpoint/2010/main" val="331647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SCO Palette 1">
      <a:dk1>
        <a:srgbClr val="797979"/>
      </a:dk1>
      <a:lt1>
        <a:srgbClr val="FFFFFF"/>
      </a:lt1>
      <a:dk2>
        <a:srgbClr val="002856"/>
      </a:dk2>
      <a:lt2>
        <a:srgbClr val="E7E6E6"/>
      </a:lt2>
      <a:accent1>
        <a:srgbClr val="4E738A"/>
      </a:accent1>
      <a:accent2>
        <a:srgbClr val="803034"/>
      </a:accent2>
      <a:accent3>
        <a:srgbClr val="002856"/>
      </a:accent3>
      <a:accent4>
        <a:srgbClr val="B68150"/>
      </a:accent4>
      <a:accent5>
        <a:srgbClr val="5E5E5E"/>
      </a:accent5>
      <a:accent6>
        <a:srgbClr val="C0C0C0"/>
      </a:accent6>
      <a:hlink>
        <a:srgbClr val="4E738A"/>
      </a:hlink>
      <a:folHlink>
        <a:srgbClr val="80303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0 LSCO CORPORATE TEMPLATE" id="{03CD3528-BB60-C947-901D-D84D34E8CF12}" vid="{17FB01F2-58AF-D74A-B380-C039A84799A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0 LSCO CORPORATE TEMPLATE" id="{03CD3528-BB60-C947-901D-D84D34E8CF12}" vid="{1A827F4C-522D-4F40-A29C-D6BB81B062B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</TotalTime>
  <Words>817</Words>
  <Application>Microsoft Macintosh PowerPoint</Application>
  <PresentationFormat>Widescreen</PresentationFormat>
  <Paragraphs>133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System Font Regular</vt:lpstr>
      <vt:lpstr>Office Theme</vt:lpstr>
      <vt:lpstr>Custom Design</vt:lpstr>
      <vt:lpstr>Excel Challenge – Question 3</vt:lpstr>
      <vt:lpstr>Policies in the US Focus: Risk of overconcentration in areas prone to earthquakes and floods.</vt:lpstr>
      <vt:lpstr>Overview of Policies Geographically</vt:lpstr>
      <vt:lpstr>At Risk Policies</vt:lpstr>
      <vt:lpstr>Proposed Strategy</vt:lpstr>
      <vt:lpstr>Appendix Slides</vt:lpstr>
      <vt:lpstr>New section/divider</vt:lpstr>
      <vt:lpstr>Important Links</vt:lpstr>
      <vt:lpstr>Content slide title here</vt:lpstr>
      <vt:lpstr>Steps or Callouts title here</vt:lpstr>
      <vt:lpstr>Content slide with photo title</vt:lpstr>
      <vt:lpstr>Content slide with  2 photo title</vt:lpstr>
      <vt:lpstr>PowerPoint Presentation</vt:lpstr>
      <vt:lpstr>Timeline or Chart slide headline here</vt:lpstr>
      <vt:lpstr>PowerPoint Presentation</vt:lpstr>
      <vt:lpstr>PowerPoint Presentation</vt:lpstr>
      <vt:lpstr>Sign off/Thank You/Questions?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Challenge – Question 3</dc:title>
  <dc:creator>Simor, Andrew</dc:creator>
  <cp:lastModifiedBy>Simor, Andrew</cp:lastModifiedBy>
  <cp:revision>13</cp:revision>
  <dcterms:created xsi:type="dcterms:W3CDTF">2021-01-27T20:14:41Z</dcterms:created>
  <dcterms:modified xsi:type="dcterms:W3CDTF">2021-01-27T22:51:39Z</dcterms:modified>
</cp:coreProperties>
</file>