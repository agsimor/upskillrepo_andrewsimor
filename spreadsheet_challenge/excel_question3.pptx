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2" r:id="rId2"/>
  </p:sldMasterIdLst>
  <p:notesMasterIdLst>
    <p:notesMasterId r:id="rId10"/>
  </p:notesMasterIdLst>
  <p:sldIdLst>
    <p:sldId id="256" r:id="rId3"/>
    <p:sldId id="257" r:id="rId4"/>
    <p:sldId id="260" r:id="rId5"/>
    <p:sldId id="272" r:id="rId6"/>
    <p:sldId id="273" r:id="rId7"/>
    <p:sldId id="258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Divider and Content slides" id="{197C2AC4-A27F-6F4C-B534-20437094981B}">
          <p14:sldIdLst>
            <p14:sldId id="256"/>
            <p14:sldId id="257"/>
            <p14:sldId id="260"/>
            <p14:sldId id="272"/>
            <p14:sldId id="273"/>
            <p14:sldId id="258"/>
            <p14:sldId id="26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738A"/>
    <a:srgbClr val="803134"/>
    <a:srgbClr val="002856"/>
    <a:srgbClr val="B6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139"/>
    <p:restoredTop sz="95921"/>
  </p:normalViewPr>
  <p:slideViewPr>
    <p:cSldViewPr snapToGrid="0" snapToObjects="1" showGuides="1">
      <p:cViewPr varScale="1">
        <p:scale>
          <a:sx n="115" d="100"/>
          <a:sy n="115" d="100"/>
        </p:scale>
        <p:origin x="21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160D92-2FAA-6B4B-9552-59A53B5F0B24}" type="datetimeFigureOut">
              <a:rPr lang="en-US" smtClean="0"/>
              <a:t>1/27/21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0018B8-80E7-9D4D-A07F-5ADA60E8D1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59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4E73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923F-FE92-614A-B950-36A0D00BB4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3064" y="3408363"/>
            <a:ext cx="6014936" cy="1251186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59CFB5-532A-BF47-96C4-DF8940025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7226" y="3388029"/>
            <a:ext cx="3683540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F88255-C40D-E343-B309-6C5EB690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62694-5B26-274C-A557-59735F7D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8773" y="6336895"/>
            <a:ext cx="505839" cy="365125"/>
          </a:xfrm>
          <a:prstGeom prst="rect">
            <a:avLst/>
          </a:prstGeom>
        </p:spPr>
        <p:txBody>
          <a:bodyPr anchor="ctr"/>
          <a:lstStyle>
            <a:lvl1pPr algn="ctr">
              <a:defRPr sz="1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276FF0-3802-8C4B-9249-7B15FE20F5E6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2255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rgbClr val="0028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923F-FE92-614A-B950-36A0D00BB4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3064" y="3408363"/>
            <a:ext cx="6014936" cy="1251186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59CFB5-532A-BF47-96C4-DF8940025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7226" y="3388029"/>
            <a:ext cx="3683540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F88255-C40D-E343-B309-6C5EB690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62694-5B26-274C-A557-59735F7D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8773" y="6336895"/>
            <a:ext cx="505839" cy="365125"/>
          </a:xfrm>
          <a:prstGeom prst="rect">
            <a:avLst/>
          </a:prstGeom>
        </p:spPr>
        <p:txBody>
          <a:bodyPr anchor="ctr"/>
          <a:lstStyle>
            <a:lvl1pPr algn="ctr">
              <a:defRPr sz="1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144A14-3905-6340-B4E1-4EC9EF56B7BE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9953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solidFill>
          <a:srgbClr val="8031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923F-FE92-614A-B950-36A0D00BB4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3064" y="3408363"/>
            <a:ext cx="6014936" cy="1251186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59CFB5-532A-BF47-96C4-DF8940025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7226" y="3388029"/>
            <a:ext cx="3683540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F88255-C40D-E343-B309-6C5EB690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62694-5B26-274C-A557-59735F7D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8773" y="6336895"/>
            <a:ext cx="505839" cy="365125"/>
          </a:xfrm>
          <a:prstGeom prst="rect">
            <a:avLst/>
          </a:prstGeom>
        </p:spPr>
        <p:txBody>
          <a:bodyPr anchor="ctr"/>
          <a:lstStyle>
            <a:lvl1pPr algn="ctr">
              <a:defRPr sz="1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D811E62-5550-DB47-A21D-EE98AC138A08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7868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Title Slide">
    <p:bg>
      <p:bgPr>
        <a:solidFill>
          <a:srgbClr val="B681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923F-FE92-614A-B950-36A0D00BB4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3064" y="3408363"/>
            <a:ext cx="6014936" cy="1251186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59CFB5-532A-BF47-96C4-DF8940025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7226" y="3388029"/>
            <a:ext cx="3683540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F88255-C40D-E343-B309-6C5EB690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62694-5B26-274C-A557-59735F7D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8773" y="6336895"/>
            <a:ext cx="505839" cy="365125"/>
          </a:xfrm>
          <a:prstGeom prst="rect">
            <a:avLst/>
          </a:prstGeom>
        </p:spPr>
        <p:txBody>
          <a:bodyPr anchor="ctr"/>
          <a:lstStyle>
            <a:lvl1pPr algn="ctr">
              <a:defRPr sz="1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1208E4C-E5AE-0048-82AC-FBA1623D90CE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6253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2444E6C8-F24B-4F49-958F-C3FBA9898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472" y="954091"/>
            <a:ext cx="423963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lnSpc>
                <a:spcPct val="100000"/>
              </a:lnSpc>
              <a:defRPr sz="480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4F3830-0129-8248-A064-4018418EF1D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80985" y="6461537"/>
            <a:ext cx="2049969" cy="15286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A976A-BEB6-4F4B-8B5B-D3F83FA80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747DAC-909A-314E-83D3-3AB628830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67E49A-285F-1440-93D8-60653FCAD3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40877" y="972766"/>
            <a:ext cx="5593403" cy="4873354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b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Font typeface="System Font Regular"/>
              <a:buChar char="–"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buFont typeface="System Font Regular"/>
              <a:buChar char="–"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DC3DF2-0DA5-E24F-A8B6-02E5AB55F92A}"/>
              </a:ext>
            </a:extLst>
          </p:cNvPr>
          <p:cNvCxnSpPr>
            <a:cxnSpLocks/>
          </p:cNvCxnSpPr>
          <p:nvPr userDrawn="1"/>
        </p:nvCxnSpPr>
        <p:spPr>
          <a:xfrm>
            <a:off x="6050604" y="719846"/>
            <a:ext cx="5573949" cy="0"/>
          </a:xfrm>
          <a:prstGeom prst="line">
            <a:avLst/>
          </a:prstGeom>
          <a:ln w="508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B892E19-99A4-954F-96C8-C518D267A4F4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953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2444E6C8-F24B-4F49-958F-C3FBA9898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471" y="943699"/>
            <a:ext cx="468910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lnSpc>
                <a:spcPct val="100000"/>
              </a:lnSpc>
              <a:defRPr sz="480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4F3830-0129-8248-A064-4018418EF1D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80985" y="6461537"/>
            <a:ext cx="2049969" cy="15286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A976A-BEB6-4F4B-8B5B-D3F83FA80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747DAC-909A-314E-83D3-3AB628830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67E49A-285F-1440-93D8-60653FCAD3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40877" y="972766"/>
            <a:ext cx="5593403" cy="4873354"/>
          </a:xfrm>
        </p:spPr>
        <p:txBody>
          <a:bodyPr/>
          <a:lstStyle>
            <a:lvl1pPr marL="236538" indent="-236538">
              <a:lnSpc>
                <a:spcPct val="100000"/>
              </a:lnSpc>
              <a:buFont typeface="Arial" panose="020B0604020202020204" pitchFamily="34" charset="0"/>
              <a:buChar char="•"/>
              <a:tabLst/>
              <a:defRPr b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15938" indent="-227013">
              <a:lnSpc>
                <a:spcPct val="100000"/>
              </a:lnSpc>
              <a:buFont typeface="System Font Regular"/>
              <a:buChar char="–"/>
              <a:tabLst/>
              <a:defRPr sz="220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42950" indent="-227013">
              <a:lnSpc>
                <a:spcPct val="100000"/>
              </a:lnSpc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79488" indent="-236538">
              <a:lnSpc>
                <a:spcPct val="100000"/>
              </a:lnSpc>
              <a:buFont typeface="System Font Regular"/>
              <a:buChar char="–"/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144588" indent="-165100">
              <a:lnSpc>
                <a:spcPct val="100000"/>
              </a:lnSpc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DC3DF2-0DA5-E24F-A8B6-02E5AB55F92A}"/>
              </a:ext>
            </a:extLst>
          </p:cNvPr>
          <p:cNvCxnSpPr>
            <a:cxnSpLocks/>
          </p:cNvCxnSpPr>
          <p:nvPr userDrawn="1"/>
        </p:nvCxnSpPr>
        <p:spPr>
          <a:xfrm>
            <a:off x="6050604" y="719846"/>
            <a:ext cx="5573949" cy="0"/>
          </a:xfrm>
          <a:prstGeom prst="line">
            <a:avLst/>
          </a:prstGeom>
          <a:ln w="508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B892E19-99A4-954F-96C8-C518D267A4F4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1883BEA-EC5E-9743-9491-BA8D88B6BC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2001" y="2930236"/>
            <a:ext cx="4724400" cy="2940628"/>
          </a:xfrm>
        </p:spPr>
        <p:txBody>
          <a:bodyPr/>
          <a:lstStyle>
            <a:lvl1pPr marL="236538" indent="-236538">
              <a:lnSpc>
                <a:spcPct val="100000"/>
              </a:lnSpc>
              <a:buFont typeface="Arial" panose="020B0604020202020204" pitchFamily="34" charset="0"/>
              <a:buChar char="•"/>
              <a:tabLst/>
              <a:defRPr b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77850" indent="-288925">
              <a:lnSpc>
                <a:spcPct val="100000"/>
              </a:lnSpc>
              <a:buFont typeface="System Font Regular"/>
              <a:buChar char="–"/>
              <a:tabLst/>
              <a:defRPr sz="220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04863" indent="-227013">
              <a:lnSpc>
                <a:spcPct val="100000"/>
              </a:lnSpc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31875" indent="-227013">
              <a:lnSpc>
                <a:spcPct val="100000"/>
              </a:lnSpc>
              <a:buFont typeface="System Font Regular"/>
              <a:buChar char="–"/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06500" indent="-174625">
              <a:lnSpc>
                <a:spcPct val="100000"/>
              </a:lnSpc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97079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2444E6C8-F24B-4F49-958F-C3FBA9898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894" y="925770"/>
            <a:ext cx="10789788" cy="62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lnSpc>
                <a:spcPct val="100000"/>
              </a:lnSpc>
              <a:defRPr sz="480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4F3830-0129-8248-A064-4018418EF1D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80985" y="6461537"/>
            <a:ext cx="2049969" cy="15286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A976A-BEB6-4F4B-8B5B-D3F83FA80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747DAC-909A-314E-83D3-3AB628830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DC3DF2-0DA5-E24F-A8B6-02E5AB55F92A}"/>
              </a:ext>
            </a:extLst>
          </p:cNvPr>
          <p:cNvCxnSpPr>
            <a:cxnSpLocks/>
          </p:cNvCxnSpPr>
          <p:nvPr userDrawn="1"/>
        </p:nvCxnSpPr>
        <p:spPr>
          <a:xfrm>
            <a:off x="797859" y="719846"/>
            <a:ext cx="10826694" cy="0"/>
          </a:xfrm>
          <a:prstGeom prst="line">
            <a:avLst/>
          </a:prstGeom>
          <a:ln w="508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B892E19-99A4-954F-96C8-C518D267A4F4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1883BEA-EC5E-9743-9491-BA8D88B6BC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7177" y="1863436"/>
            <a:ext cx="10802469" cy="4107058"/>
          </a:xfrm>
        </p:spPr>
        <p:txBody>
          <a:bodyPr/>
          <a:lstStyle>
            <a:lvl1pPr marL="236538" indent="-236538">
              <a:lnSpc>
                <a:spcPct val="100000"/>
              </a:lnSpc>
              <a:buFont typeface="Arial" panose="020B0604020202020204" pitchFamily="34" charset="0"/>
              <a:buChar char="•"/>
              <a:tabLst/>
              <a:defRPr b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77850" indent="-288925">
              <a:lnSpc>
                <a:spcPct val="100000"/>
              </a:lnSpc>
              <a:buFont typeface="System Font Regular"/>
              <a:buChar char="–"/>
              <a:tabLst/>
              <a:defRPr sz="220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04863" indent="-227013">
              <a:lnSpc>
                <a:spcPct val="100000"/>
              </a:lnSpc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31875" indent="-227013">
              <a:lnSpc>
                <a:spcPct val="100000"/>
              </a:lnSpc>
              <a:buFont typeface="System Font Regular"/>
              <a:buChar char="–"/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06500" indent="-174625">
              <a:lnSpc>
                <a:spcPct val="100000"/>
              </a:lnSpc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67735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rgbClr val="0028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2444E6C8-F24B-4F49-958F-C3FBA9898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894" y="925770"/>
            <a:ext cx="10789788" cy="62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A976A-BEB6-4F4B-8B5B-D3F83FA80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747DAC-909A-314E-83D3-3AB628830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DC3DF2-0DA5-E24F-A8B6-02E5AB55F92A}"/>
              </a:ext>
            </a:extLst>
          </p:cNvPr>
          <p:cNvCxnSpPr>
            <a:cxnSpLocks/>
          </p:cNvCxnSpPr>
          <p:nvPr userDrawn="1"/>
        </p:nvCxnSpPr>
        <p:spPr>
          <a:xfrm>
            <a:off x="797859" y="719846"/>
            <a:ext cx="10826694" cy="0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B892E19-99A4-954F-96C8-C518D267A4F4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6AD75256-90CB-8040-BB3E-D6E05B0DCA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85" y="6461537"/>
            <a:ext cx="2049969" cy="152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903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bg>
      <p:bgPr>
        <a:solidFill>
          <a:srgbClr val="4E73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A976A-BEB6-4F4B-8B5B-D3F83FA80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747DAC-909A-314E-83D3-3AB628830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D75256-90CB-8040-BB3E-D6E05B0DCA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85" y="6461537"/>
            <a:ext cx="2049969" cy="1528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F6B67C-E605-924F-BFD7-C90DE2F1371E}"/>
              </a:ext>
            </a:extLst>
          </p:cNvPr>
          <p:cNvSpPr txBox="1"/>
          <p:nvPr userDrawn="1"/>
        </p:nvSpPr>
        <p:spPr>
          <a:xfrm>
            <a:off x="774700" y="-675503"/>
            <a:ext cx="2895600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0" dirty="0">
                <a:solidFill>
                  <a:schemeClr val="bg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B892E19-99A4-954F-96C8-C518D267A4F4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8516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bg>
      <p:bgPr>
        <a:solidFill>
          <a:srgbClr val="8031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A976A-BEB6-4F4B-8B5B-D3F83FA80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747DAC-909A-314E-83D3-3AB628830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B892E19-99A4-954F-96C8-C518D267A4F4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6AD75256-90CB-8040-BB3E-D6E05B0DCA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85" y="6461537"/>
            <a:ext cx="2049969" cy="152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850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303B0-C6D6-C542-BCC9-50E820BBD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0C7CC2-ABAA-5149-AE81-AEE8852DA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519018-7E27-564D-AF3A-27A6E98C1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0CB975-3FD0-D94F-B768-F38760177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04706" y="6356350"/>
            <a:ext cx="449094" cy="365125"/>
          </a:xfrm>
          <a:prstGeom prst="rect">
            <a:avLst/>
          </a:prstGeom>
        </p:spPr>
        <p:txBody>
          <a:bodyPr/>
          <a:lstStyle/>
          <a:p>
            <a:fld id="{018EB630-4941-2B42-B900-9433B33CA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5767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303B0-C6D6-C542-BCC9-50E820BBD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0C7CC2-ABAA-5149-AE81-AEE8852DA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519018-7E27-564D-AF3A-27A6E98C1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0CB975-3FD0-D94F-B768-F38760177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04706" y="6356350"/>
            <a:ext cx="449094" cy="365125"/>
          </a:xfrm>
          <a:prstGeom prst="rect">
            <a:avLst/>
          </a:prstGeom>
        </p:spPr>
        <p:txBody>
          <a:bodyPr/>
          <a:lstStyle/>
          <a:p>
            <a:fld id="{018EB630-4941-2B42-B900-9433B33CA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7228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697DAB1-ADD5-CC4C-B991-D48AED6A4A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3988" y="168275"/>
            <a:ext cx="5867400" cy="658495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CCB284-8B1D-0F40-89CD-C162B7658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8619" y="508220"/>
            <a:ext cx="5138737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3BF2A-B13C-6D4B-A160-E91479F99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25210" y="2067194"/>
            <a:ext cx="5207245" cy="4351338"/>
          </a:xfr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D5DB0A27-EB7D-3B41-BE03-300A31A2EE6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180803" y="6336895"/>
            <a:ext cx="50583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7616B2-53F5-424A-AEA6-6A52FDD9AB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80985" y="6461537"/>
            <a:ext cx="2049969" cy="15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697DAB1-ADD5-CC4C-B991-D48AED6A4A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1557" y="262059"/>
            <a:ext cx="5867400" cy="3043848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CCB284-8B1D-0F40-89CD-C162B7658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8619" y="508220"/>
            <a:ext cx="5138737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3BF2A-B13C-6D4B-A160-E91479F99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25210" y="2067194"/>
            <a:ext cx="5207245" cy="4351338"/>
          </a:xfr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D5DB0A27-EB7D-3B41-BE03-300A31A2EE6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180803" y="6336895"/>
            <a:ext cx="50583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7616B2-53F5-424A-AEA6-6A52FDD9AB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80985" y="6461537"/>
            <a:ext cx="2049969" cy="152865"/>
          </a:xfrm>
          <a:prstGeom prst="rect">
            <a:avLst/>
          </a:prstGeom>
        </p:spPr>
      </p:pic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62E086D5-9A74-AF41-B87C-F4B4A3F8B33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41557" y="3493476"/>
            <a:ext cx="5867400" cy="3043848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37587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490630-7069-514B-AADC-64816CFF2D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EF950B-2A87-9043-ADBB-DC7DF790971B}" type="datetimeFigureOut">
              <a:rPr lang="en-US" smtClean="0"/>
              <a:t>1/27/21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4F40D-C26E-B44C-BB16-1C1E7E55C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1951BA-7952-944D-9394-21AD34F10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47680DC-528A-DC45-8AF5-7C57CFB7F7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222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5FE413-CDD7-EA43-B7D8-F39DDF835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1104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5F8BB-47DE-C244-BC20-CAAB1064D3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2517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© 2020 / Levi Strauss &amp; Co.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2BCFB3-7AD3-FB48-BC89-56A400C7DD0D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85" y="6461537"/>
            <a:ext cx="2049969" cy="15286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0D31D31-6391-994E-B8F9-59E623034F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354817"/>
            <a:ext cx="10515600" cy="11704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here to edit subhead/secondary content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1F1B3CB-CAA4-BA47-8F84-6C7BED943D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758773" y="6336895"/>
            <a:ext cx="505839" cy="365125"/>
          </a:xfrm>
          <a:prstGeom prst="rect">
            <a:avLst/>
          </a:prstGeom>
        </p:spPr>
        <p:txBody>
          <a:bodyPr anchor="ctr"/>
          <a:lstStyle>
            <a:lvl1pPr algn="ctr">
              <a:defRPr sz="1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5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9" r:id="rId3"/>
    <p:sldLayoutId id="2147483660" r:id="rId4"/>
    <p:sldLayoutId id="2147483650" r:id="rId5"/>
    <p:sldLayoutId id="2147483661" r:id="rId6"/>
    <p:sldLayoutId id="2147483674" r:id="rId7"/>
    <p:sldLayoutId id="2147483676" r:id="rId8"/>
    <p:sldLayoutId id="2147483677" r:id="rId9"/>
    <p:sldLayoutId id="2147483678" r:id="rId10"/>
    <p:sldLayoutId id="2147483654" r:id="rId11"/>
    <p:sldLayoutId id="2147483679" r:id="rId1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000" b="1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550475-E0F5-5F4E-904C-0E1EE071B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5062" y="522288"/>
            <a:ext cx="513873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049CA5-9425-8640-A798-EDA3456D6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57924" y="1982788"/>
            <a:ext cx="509587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8284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75" r:id="rId2"/>
    <p:sldLayoutId id="2147483669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>
              <a:lumMod val="65000"/>
              <a:lumOff val="35000"/>
            </a:schemeClr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gsimor/UpskillRepo_AndrewSimor/blob/main/spreadsheet_challenge/excel_challenge.html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DFC7892-9F4D-1B49-8314-9E2C78C53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10454"/>
            <a:ext cx="10515600" cy="1325563"/>
          </a:xfrm>
        </p:spPr>
        <p:txBody>
          <a:bodyPr anchor="t">
            <a:noAutofit/>
          </a:bodyPr>
          <a:lstStyle/>
          <a:p>
            <a:r>
              <a:rPr lang="en-US" sz="4800" dirty="0"/>
              <a:t>Excel Challenge – Question 3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DCCF220-1B40-9F46-84C3-26C481622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641120-AB1A-3045-BC54-BD62BD952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EB630-4941-2B42-B900-9433B33CAFD8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668EF1-8137-124E-A8C9-BDD5179904B1}"/>
              </a:ext>
            </a:extLst>
          </p:cNvPr>
          <p:cNvSpPr txBox="1"/>
          <p:nvPr/>
        </p:nvSpPr>
        <p:spPr>
          <a:xfrm>
            <a:off x="719847" y="5095141"/>
            <a:ext cx="10291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Andrew </a:t>
            </a:r>
            <a:r>
              <a:rPr lang="en-US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Simor</a:t>
            </a:r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Submission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0542219-FB24-5C47-B0A2-E743027C4CD6}"/>
              </a:ext>
            </a:extLst>
          </p:cNvPr>
          <p:cNvCxnSpPr>
            <a:cxnSpLocks/>
          </p:cNvCxnSpPr>
          <p:nvPr/>
        </p:nvCxnSpPr>
        <p:spPr>
          <a:xfrm>
            <a:off x="913867" y="3098983"/>
            <a:ext cx="5182133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0BAB2D8-5C4C-7548-BF79-BCE82A9B1894}"/>
              </a:ext>
            </a:extLst>
          </p:cNvPr>
          <p:cNvSpPr txBox="1"/>
          <p:nvPr/>
        </p:nvSpPr>
        <p:spPr>
          <a:xfrm>
            <a:off x="11857055" y="-5124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136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05A926E-0849-8B43-B263-8B4DFEF92C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882579"/>
            <a:ext cx="8651488" cy="1251186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Policies in the US</a:t>
            </a:r>
            <a:br>
              <a:rPr lang="en-US" dirty="0"/>
            </a:br>
            <a:r>
              <a:rPr lang="en-US" sz="4000" b="0" i="1" dirty="0"/>
              <a:t>Focus: Risk of overconcentration in areas prone to earthquakes and floods.</a:t>
            </a:r>
            <a:endParaRPr lang="en-US" b="0" i="1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E8421B1-B39F-3547-ABC7-916504C41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7226" y="3615316"/>
            <a:ext cx="3683540" cy="1655762"/>
          </a:xfrm>
        </p:spPr>
        <p:txBody>
          <a:bodyPr/>
          <a:lstStyle/>
          <a:p>
            <a:r>
              <a:rPr lang="en-US" dirty="0"/>
              <a:t>Pros, Cons, Risks, and Opportunities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747EDF-C609-514F-9F74-8D514A0B0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53D793-D77B-C145-8664-220827A6A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EB630-4941-2B42-B900-9433B33CAFD8}" type="slidenum">
              <a:rPr lang="en-US" smtClean="0"/>
              <a:pPr/>
              <a:t>2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C7A660-ADFA-A647-941D-CEDEC719D747}"/>
              </a:ext>
            </a:extLst>
          </p:cNvPr>
          <p:cNvCxnSpPr/>
          <p:nvPr/>
        </p:nvCxnSpPr>
        <p:spPr>
          <a:xfrm>
            <a:off x="7928043" y="3429000"/>
            <a:ext cx="373542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443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6A8990-D9D2-4545-852F-C39B5D6143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9688" y="766492"/>
            <a:ext cx="11506826" cy="5400132"/>
          </a:xfrm>
        </p:spPr>
        <p:txBody>
          <a:bodyPr>
            <a:normAutofit fontScale="92500" lnSpcReduction="10000"/>
          </a:bodyPr>
          <a:lstStyle/>
          <a:p>
            <a:pPr marL="241300" indent="-241300">
              <a:lnSpc>
                <a:spcPct val="100000"/>
              </a:lnSpc>
            </a:pPr>
            <a:r>
              <a:rPr lang="en-US" sz="1500" dirty="0"/>
              <a:t>As of 2021, we are liable for ~$2.5B in insured policies across 10 states, 4 regions:</a:t>
            </a:r>
          </a:p>
          <a:p>
            <a:pPr marL="584200" lvl="1" indent="-241300">
              <a:lnSpc>
                <a:spcPct val="100000"/>
              </a:lnSpc>
            </a:pPr>
            <a:r>
              <a:rPr lang="en-US" sz="1500" dirty="0"/>
              <a:t>IL, ME, MI, MN, NH, NJ, NY, OH, VT, WI</a:t>
            </a:r>
          </a:p>
          <a:p>
            <a:pPr marL="584200" lvl="1" indent="-241300">
              <a:lnSpc>
                <a:spcPct val="100000"/>
              </a:lnSpc>
            </a:pPr>
            <a:r>
              <a:rPr lang="en-US" sz="1500" b="0" dirty="0"/>
              <a:t>NY ha</a:t>
            </a:r>
            <a:r>
              <a:rPr lang="en-US" sz="1500" dirty="0"/>
              <a:t>s the highest concentration </a:t>
            </a:r>
            <a:r>
              <a:rPr lang="en-US" sz="1500" b="0" dirty="0"/>
              <a:t>of our insured policies (261) accounting for a total insured value of ~$1.5B</a:t>
            </a:r>
          </a:p>
          <a:p>
            <a:pPr marL="1041400" lvl="2" indent="-241300">
              <a:lnSpc>
                <a:spcPct val="100000"/>
              </a:lnSpc>
            </a:pPr>
            <a:r>
              <a:rPr lang="en-US" sz="1500" dirty="0"/>
              <a:t>NY accounts for 60.1% of total insured value, Wisconsin and NJ are the 2</a:t>
            </a:r>
            <a:r>
              <a:rPr lang="en-US" sz="1500" baseline="30000" dirty="0"/>
              <a:t>nd</a:t>
            </a:r>
            <a:r>
              <a:rPr lang="en-US" sz="1500" dirty="0"/>
              <a:t> and 3</a:t>
            </a:r>
            <a:r>
              <a:rPr lang="en-US" sz="1500" baseline="30000" dirty="0"/>
              <a:t>rd</a:t>
            </a:r>
            <a:r>
              <a:rPr lang="en-US" sz="1500" dirty="0"/>
              <a:t> largest</a:t>
            </a:r>
          </a:p>
          <a:p>
            <a:pPr marL="241300" indent="-241300">
              <a:lnSpc>
                <a:spcPct val="100000"/>
              </a:lnSpc>
            </a:pPr>
            <a:r>
              <a:rPr lang="en-US" sz="1500" dirty="0"/>
              <a:t>Regionally the East and Midwest contain the most variance in insured amount, we have less penetration in the Northeast, and Central regions. </a:t>
            </a:r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r>
              <a:rPr lang="en-US" sz="2200" b="1" i="1" dirty="0"/>
              <a:t>Question</a:t>
            </a:r>
            <a:r>
              <a:rPr lang="en-US" sz="2200" b="0" i="1" dirty="0"/>
              <a:t>: </a:t>
            </a:r>
            <a:r>
              <a:rPr lang="en-US" sz="2200" i="1" dirty="0"/>
              <a:t>D</a:t>
            </a:r>
            <a:r>
              <a:rPr lang="en-US" sz="2200" b="0" i="1" dirty="0"/>
              <a:t>oes having 60.1% of our liable value in one state (NY) put us in a risky position?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FD1345-2095-BD4A-9382-115F08CE8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489" y="2229045"/>
            <a:ext cx="6346549" cy="32346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49DEAB-9D5D-374B-A96A-5E6AFA961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42489"/>
            <a:ext cx="10303727" cy="1325563"/>
          </a:xfrm>
        </p:spPr>
        <p:txBody>
          <a:bodyPr/>
          <a:lstStyle/>
          <a:p>
            <a:r>
              <a:rPr lang="en-US" sz="4000" dirty="0"/>
              <a:t>Overview of Policies Geographically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9F3795B-E0C4-D441-81E4-0CFDF969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5B96323E-D3E0-4D40-A626-4387DBB992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1C62B0-69FD-DB41-A5FE-44234F4692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071" y="2262497"/>
            <a:ext cx="3838814" cy="3234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979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9DEAB-9D5D-374B-A96A-5E6AFA961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16" y="-244814"/>
            <a:ext cx="5975284" cy="1325563"/>
          </a:xfrm>
        </p:spPr>
        <p:txBody>
          <a:bodyPr/>
          <a:lstStyle/>
          <a:p>
            <a:r>
              <a:rPr lang="en-US" sz="4000" dirty="0"/>
              <a:t>At Risk Policies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9F3795B-E0C4-D441-81E4-0CFDF969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5B96323E-D3E0-4D40-A626-4387DBB992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6A8990-D9D2-4545-852F-C39B5D6143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7144" y="833398"/>
            <a:ext cx="10933286" cy="4873354"/>
          </a:xfrm>
        </p:spPr>
        <p:txBody>
          <a:bodyPr>
            <a:normAutofit/>
          </a:bodyPr>
          <a:lstStyle/>
          <a:p>
            <a:pPr marL="241300" indent="-241300">
              <a:lnSpc>
                <a:spcPct val="100000"/>
              </a:lnSpc>
            </a:pPr>
            <a:r>
              <a:rPr lang="en-US" sz="1600" b="1" i="1" dirty="0"/>
              <a:t>Assumption</a:t>
            </a:r>
            <a:r>
              <a:rPr lang="en-US" sz="1600" dirty="0"/>
              <a:t>: we consider any policy in a flood or earthquake zone as </a:t>
            </a:r>
            <a:r>
              <a:rPr lang="en-US" sz="1600" b="1" i="1" dirty="0"/>
              <a:t>at risk.</a:t>
            </a:r>
          </a:p>
          <a:p>
            <a:pPr marL="584200" lvl="1" indent="-241300">
              <a:lnSpc>
                <a:spcPct val="100000"/>
              </a:lnSpc>
            </a:pPr>
            <a:r>
              <a:rPr lang="en-US" sz="1600" i="1" dirty="0"/>
              <a:t>Under this assumption, </a:t>
            </a:r>
            <a:r>
              <a:rPr lang="en-US" sz="1600" b="1" i="1" dirty="0"/>
              <a:t>78.4% of our insured value lies in zones at risk of flooding, earthquakes, or both</a:t>
            </a:r>
          </a:p>
          <a:p>
            <a:pPr marL="241300" indent="-241300">
              <a:lnSpc>
                <a:spcPct val="100000"/>
              </a:lnSpc>
            </a:pPr>
            <a:r>
              <a:rPr lang="en-US" sz="1600" dirty="0"/>
              <a:t>By State, we observe some variance in % of total insured value at risk:</a:t>
            </a:r>
          </a:p>
          <a:p>
            <a:pPr marL="584200" lvl="1" indent="-241300">
              <a:lnSpc>
                <a:spcPct val="100000"/>
              </a:lnSpc>
            </a:pPr>
            <a:r>
              <a:rPr lang="en-US" sz="1600" b="1" dirty="0"/>
              <a:t>Pros:</a:t>
            </a:r>
            <a:r>
              <a:rPr lang="en-US" sz="1600" dirty="0"/>
              <a:t> WI is less prone to earthquake/flood risk, the Midwest could prove to be an opportunity</a:t>
            </a:r>
          </a:p>
          <a:p>
            <a:pPr marL="584200" lvl="1" indent="-241300">
              <a:lnSpc>
                <a:spcPct val="100000"/>
              </a:lnSpc>
            </a:pPr>
            <a:r>
              <a:rPr lang="en-US" sz="1600" b="1" dirty="0"/>
              <a:t>Cons:</a:t>
            </a:r>
            <a:r>
              <a:rPr lang="en-US" sz="1600" dirty="0"/>
              <a:t> NY and NJ will prove to be huge liabilities should earthquakes or flooding strike the area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FD6138-4EBB-CD4A-8243-51FDD27F5D5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5889"/>
          <a:stretch/>
        </p:blipFill>
        <p:spPr>
          <a:xfrm>
            <a:off x="160858" y="2807076"/>
            <a:ext cx="5309415" cy="31503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7C28E51-6376-B14B-80CE-06A55288DE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6558" y="2834722"/>
            <a:ext cx="6476240" cy="318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2604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9F3795B-E0C4-D441-81E4-0CFDF969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5B96323E-D3E0-4D40-A626-4387DBB992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6A8990-D9D2-4545-852F-C39B5D6143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20195" y="799946"/>
            <a:ext cx="11382993" cy="4873354"/>
          </a:xfrm>
        </p:spPr>
        <p:txBody>
          <a:bodyPr>
            <a:normAutofit/>
          </a:bodyPr>
          <a:lstStyle/>
          <a:p>
            <a:pPr marL="241300" indent="-241300">
              <a:lnSpc>
                <a:spcPct val="100000"/>
              </a:lnSpc>
            </a:pPr>
            <a:r>
              <a:rPr lang="en-US" sz="2000" b="1" i="1" dirty="0"/>
              <a:t>Q: How can we protect ourselves should natural disaster strike the Tri-State area?</a:t>
            </a:r>
          </a:p>
          <a:p>
            <a:pPr marL="241300" indent="-241300">
              <a:lnSpc>
                <a:spcPct val="100000"/>
              </a:lnSpc>
            </a:pPr>
            <a:r>
              <a:rPr lang="en-US" sz="2000" b="1" i="1" dirty="0"/>
              <a:t>A: Hedge Bets</a:t>
            </a:r>
            <a:r>
              <a:rPr lang="en-US" sz="2000" b="1" dirty="0"/>
              <a:t>:  </a:t>
            </a:r>
          </a:p>
          <a:p>
            <a:pPr marL="800100" lvl="1" indent="-457200">
              <a:lnSpc>
                <a:spcPct val="100000"/>
              </a:lnSpc>
              <a:buFont typeface="+mj-lt"/>
              <a:buAutoNum type="arabicPeriod"/>
            </a:pPr>
            <a:r>
              <a:rPr lang="en-US" sz="1600" dirty="0"/>
              <a:t>Diversify sales prospects geographically, focus on growth </a:t>
            </a:r>
            <a:r>
              <a:rPr lang="en-US" sz="1600" b="1" dirty="0"/>
              <a:t>outside of the Eastern region</a:t>
            </a:r>
          </a:p>
          <a:p>
            <a:pPr marL="800100" lvl="1" indent="-457200">
              <a:lnSpc>
                <a:spcPct val="100000"/>
              </a:lnSpc>
              <a:buFont typeface="+mj-lt"/>
              <a:buAutoNum type="arabicPeriod"/>
            </a:pPr>
            <a:r>
              <a:rPr lang="en-US" sz="1600" dirty="0"/>
              <a:t>Prioritize renewals on lower risk policies as a safety net for the riskier high value policies.</a:t>
            </a:r>
          </a:p>
          <a:p>
            <a:pPr marL="1257300" lvl="2" indent="-457200">
              <a:lnSpc>
                <a:spcPct val="100000"/>
              </a:lnSpc>
            </a:pPr>
            <a:r>
              <a:rPr lang="en-US" sz="1400" dirty="0"/>
              <a:t>Opportunity for low risk renewals is consistent in the Midwest throughout the year, we must retain these policies through the year. </a:t>
            </a:r>
          </a:p>
          <a:p>
            <a:pPr marL="1257300" lvl="2" indent="-457200">
              <a:lnSpc>
                <a:spcPct val="100000"/>
              </a:lnSpc>
              <a:buFont typeface="+mj-lt"/>
              <a:buAutoNum type="arabicPeriod"/>
            </a:pPr>
            <a:endParaRPr lang="en-US" sz="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0B72AF0-F8F2-1944-9D2E-54270DF4A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16" y="3029069"/>
            <a:ext cx="5966078" cy="313631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EABB68-2366-4B4C-80A6-BA4792680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692" y="3029069"/>
            <a:ext cx="5969357" cy="3168259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5BE28F5-F52F-454B-92C9-8C30A984F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16" y="-244814"/>
            <a:ext cx="5975284" cy="1325563"/>
          </a:xfrm>
        </p:spPr>
        <p:txBody>
          <a:bodyPr/>
          <a:lstStyle/>
          <a:p>
            <a:r>
              <a:rPr lang="en-US" sz="4000" i="1" dirty="0"/>
              <a:t>Proposed Strategy</a:t>
            </a:r>
          </a:p>
        </p:txBody>
      </p:sp>
    </p:spTree>
    <p:extLst>
      <p:ext uri="{BB962C8B-B14F-4D97-AF65-F5344CB8AC3E}">
        <p14:creationId xmlns:p14="http://schemas.microsoft.com/office/powerpoint/2010/main" val="4311653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05A926E-0849-8B43-B263-8B4DFEF92C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3064" y="3281111"/>
            <a:ext cx="6014936" cy="1251186"/>
          </a:xfrm>
        </p:spPr>
        <p:txBody>
          <a:bodyPr anchor="t">
            <a:normAutofit/>
          </a:bodyPr>
          <a:lstStyle/>
          <a:p>
            <a:r>
              <a:rPr lang="en-US" dirty="0"/>
              <a:t>Appendix Slides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E8421B1-B39F-3547-ABC7-916504C41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7226" y="3611773"/>
            <a:ext cx="3683540" cy="1655762"/>
          </a:xfrm>
        </p:spPr>
        <p:txBody>
          <a:bodyPr/>
          <a:lstStyle/>
          <a:p>
            <a:r>
              <a:rPr lang="en-US" dirty="0"/>
              <a:t>Visuals and Links to Code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B6CD4D-49B8-A641-8302-F325C068D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D55CB9-84C0-0240-871B-AA62AA31B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EB630-4941-2B42-B900-9433B33CAFD8}" type="slidenum">
              <a:rPr lang="en-US" smtClean="0"/>
              <a:pPr/>
              <a:t>6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C7A660-ADFA-A647-941D-CEDEC719D747}"/>
              </a:ext>
            </a:extLst>
          </p:cNvPr>
          <p:cNvCxnSpPr/>
          <p:nvPr/>
        </p:nvCxnSpPr>
        <p:spPr>
          <a:xfrm>
            <a:off x="7928043" y="3429000"/>
            <a:ext cx="373542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3644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EEDA1-3060-304F-86F0-37B31E178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Links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AC0309-A3D7-4640-ABD7-0165E52BF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E952F9-B8F5-3D4F-8743-6CAFE8CFBC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18EB630-4941-2B42-B900-9433B33CAFD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ACF8D5-CE9A-CE4A-86D2-132EFE1FFC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40877" y="972766"/>
            <a:ext cx="5593403" cy="4929270"/>
          </a:xfrm>
        </p:spPr>
        <p:txBody>
          <a:bodyPr/>
          <a:lstStyle/>
          <a:p>
            <a:pPr marL="241300" indent="-241300"/>
            <a:r>
              <a:rPr lang="en-US" dirty="0" err="1"/>
              <a:t>Github</a:t>
            </a:r>
            <a:r>
              <a:rPr lang="en-US" dirty="0"/>
              <a:t> Repository Containing Notebook: </a:t>
            </a:r>
          </a:p>
          <a:p>
            <a:pPr marL="520700" lvl="1" indent="-241300"/>
            <a:r>
              <a:rPr lang="en-US" dirty="0"/>
              <a:t>Link: </a:t>
            </a:r>
            <a:r>
              <a:rPr lang="en-US" sz="1200" dirty="0">
                <a:hlinkClick r:id="rId2"/>
              </a:rPr>
              <a:t>https://github.com/agsimor/UpskillRepo_AndrewSimor/blob/main/spreadsheet_challenge/excel_challenge.html</a:t>
            </a:r>
            <a:endParaRPr lang="en-US" dirty="0"/>
          </a:p>
          <a:p>
            <a:pPr marL="520700" lvl="1" indent="-2413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81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LSCO Palette 1">
      <a:dk1>
        <a:srgbClr val="797979"/>
      </a:dk1>
      <a:lt1>
        <a:srgbClr val="FFFFFF"/>
      </a:lt1>
      <a:dk2>
        <a:srgbClr val="002856"/>
      </a:dk2>
      <a:lt2>
        <a:srgbClr val="E7E6E6"/>
      </a:lt2>
      <a:accent1>
        <a:srgbClr val="4E738A"/>
      </a:accent1>
      <a:accent2>
        <a:srgbClr val="803034"/>
      </a:accent2>
      <a:accent3>
        <a:srgbClr val="002856"/>
      </a:accent3>
      <a:accent4>
        <a:srgbClr val="B68150"/>
      </a:accent4>
      <a:accent5>
        <a:srgbClr val="5E5E5E"/>
      </a:accent5>
      <a:accent6>
        <a:srgbClr val="C0C0C0"/>
      </a:accent6>
      <a:hlink>
        <a:srgbClr val="4E738A"/>
      </a:hlink>
      <a:folHlink>
        <a:srgbClr val="80303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0 LSCO CORPORATE TEMPLATE" id="{03CD3528-BB60-C947-901D-D84D34E8CF12}" vid="{17FB01F2-58AF-D74A-B380-C039A84799AB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0 LSCO CORPORATE TEMPLATE" id="{03CD3528-BB60-C947-901D-D84D34E8CF12}" vid="{1A827F4C-522D-4F40-A29C-D6BB81B062B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6071</TotalTime>
  <Words>440</Words>
  <Application>Microsoft Macintosh PowerPoint</Application>
  <PresentationFormat>Widescreen</PresentationFormat>
  <Paragraphs>52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System Font Regular</vt:lpstr>
      <vt:lpstr>Office Theme</vt:lpstr>
      <vt:lpstr>Custom Design</vt:lpstr>
      <vt:lpstr>Excel Challenge – Question 3</vt:lpstr>
      <vt:lpstr>Policies in the US Focus: Risk of overconcentration in areas prone to earthquakes and floods.</vt:lpstr>
      <vt:lpstr>Overview of Policies Geographically</vt:lpstr>
      <vt:lpstr>At Risk Policies</vt:lpstr>
      <vt:lpstr>Proposed Strategy</vt:lpstr>
      <vt:lpstr>Appendix Slides</vt:lpstr>
      <vt:lpstr>Important Links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 Challenge – Question 3</dc:title>
  <dc:creator>Simor, Andrew</dc:creator>
  <cp:lastModifiedBy>Simor, Andrew</cp:lastModifiedBy>
  <cp:revision>17</cp:revision>
  <dcterms:created xsi:type="dcterms:W3CDTF">2021-01-27T20:14:41Z</dcterms:created>
  <dcterms:modified xsi:type="dcterms:W3CDTF">2021-02-01T01:25:46Z</dcterms:modified>
</cp:coreProperties>
</file>