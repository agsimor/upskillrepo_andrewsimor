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2" r:id="rId2"/>
  </p:sldMasterIdLst>
  <p:notesMasterIdLst>
    <p:notesMasterId r:id="rId9"/>
  </p:notesMasterIdLst>
  <p:sldIdLst>
    <p:sldId id="256" r:id="rId3"/>
    <p:sldId id="257" r:id="rId4"/>
    <p:sldId id="260" r:id="rId5"/>
    <p:sldId id="274" r:id="rId6"/>
    <p:sldId id="275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Divider and Content slides" id="{197C2AC4-A27F-6F4C-B534-20437094981B}">
          <p14:sldIdLst>
            <p14:sldId id="256"/>
            <p14:sldId id="257"/>
            <p14:sldId id="260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738A"/>
    <a:srgbClr val="803134"/>
    <a:srgbClr val="002856"/>
    <a:srgbClr val="B681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53"/>
    <p:restoredTop sz="95921"/>
  </p:normalViewPr>
  <p:slideViewPr>
    <p:cSldViewPr snapToGrid="0" snapToObjects="1" showGuides="1">
      <p:cViewPr>
        <p:scale>
          <a:sx n="113" d="100"/>
          <a:sy n="113" d="100"/>
        </p:scale>
        <p:origin x="264" y="4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160D92-2FAA-6B4B-9552-59A53B5F0B24}" type="datetimeFigureOut">
              <a:rPr lang="en-US" smtClean="0"/>
              <a:t>1/31/21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018B8-80E7-9D4D-A07F-5ADA60E8D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5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4E73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923F-FE92-614A-B950-36A0D00BB4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064" y="3408363"/>
            <a:ext cx="6014936" cy="1251186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9CFB5-532A-BF47-96C4-DF8940025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226" y="3388029"/>
            <a:ext cx="368354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88255-C40D-E343-B309-6C5EB690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62694-5B26-274C-A557-59735F7D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8773" y="6336895"/>
            <a:ext cx="505839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276FF0-3802-8C4B-9249-7B15FE20F5E6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25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923F-FE92-614A-B950-36A0D00BB4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064" y="3408363"/>
            <a:ext cx="6014936" cy="1251186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9CFB5-532A-BF47-96C4-DF8940025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226" y="3388029"/>
            <a:ext cx="368354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88255-C40D-E343-B309-6C5EB690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62694-5B26-274C-A557-59735F7D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8773" y="6336895"/>
            <a:ext cx="505839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144A14-3905-6340-B4E1-4EC9EF56B7BE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953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solidFill>
          <a:srgbClr val="803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923F-FE92-614A-B950-36A0D00BB4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064" y="3408363"/>
            <a:ext cx="6014936" cy="1251186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9CFB5-532A-BF47-96C4-DF8940025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226" y="3388029"/>
            <a:ext cx="368354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88255-C40D-E343-B309-6C5EB690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62694-5B26-274C-A557-59735F7D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8773" y="6336895"/>
            <a:ext cx="505839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811E62-5550-DB47-A21D-EE98AC138A08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868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bg>
      <p:bgPr>
        <a:solidFill>
          <a:srgbClr val="B681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2923F-FE92-614A-B950-36A0D00BB4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3064" y="3408363"/>
            <a:ext cx="6014936" cy="1251186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59CFB5-532A-BF47-96C4-DF8940025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226" y="3388029"/>
            <a:ext cx="368354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88255-C40D-E343-B309-6C5EB690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62694-5B26-274C-A557-59735F7D0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58773" y="6336895"/>
            <a:ext cx="505839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208E4C-E5AE-0048-82AC-FBA1623D90CE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6253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444E6C8-F24B-4F49-958F-C3FBA9898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472" y="954091"/>
            <a:ext cx="42396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sz="48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4F3830-0129-8248-A064-4018418EF1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80985" y="6461537"/>
            <a:ext cx="2049969" cy="15286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A976A-BEB6-4F4B-8B5B-D3F83FA8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47DAC-909A-314E-83D3-3AB628830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67E49A-285F-1440-93D8-60653FCAD3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0877" y="972766"/>
            <a:ext cx="5593403" cy="4873354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b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stem Font Regular"/>
              <a:buChar char="–"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stem Font Regular"/>
              <a:buChar char="–"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DC3DF2-0DA5-E24F-A8B6-02E5AB55F92A}"/>
              </a:ext>
            </a:extLst>
          </p:cNvPr>
          <p:cNvCxnSpPr>
            <a:cxnSpLocks/>
          </p:cNvCxnSpPr>
          <p:nvPr userDrawn="1"/>
        </p:nvCxnSpPr>
        <p:spPr>
          <a:xfrm>
            <a:off x="6050604" y="719846"/>
            <a:ext cx="5573949" cy="0"/>
          </a:xfrm>
          <a:prstGeom prst="line">
            <a:avLst/>
          </a:prstGeom>
          <a:ln w="508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892E19-99A4-954F-96C8-C518D267A4F4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953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444E6C8-F24B-4F49-958F-C3FBA9898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471" y="943699"/>
            <a:ext cx="46891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sz="48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4F3830-0129-8248-A064-4018418EF1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80985" y="6461537"/>
            <a:ext cx="2049969" cy="15286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A976A-BEB6-4F4B-8B5B-D3F83FA8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47DAC-909A-314E-83D3-3AB628830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67E49A-285F-1440-93D8-60653FCAD3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40877" y="972766"/>
            <a:ext cx="5593403" cy="4873354"/>
          </a:xfrm>
        </p:spPr>
        <p:txBody>
          <a:bodyPr/>
          <a:lstStyle>
            <a:lvl1pPr marL="236538" indent="-23653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b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15938" indent="-227013">
              <a:lnSpc>
                <a:spcPct val="100000"/>
              </a:lnSpc>
              <a:buFont typeface="System Font Regular"/>
              <a:buChar char="–"/>
              <a:tabLst/>
              <a:defRPr sz="22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42950" indent="-227013">
              <a:lnSpc>
                <a:spcPct val="100000"/>
              </a:lnSpc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79488" indent="-236538">
              <a:lnSpc>
                <a:spcPct val="100000"/>
              </a:lnSpc>
              <a:buFont typeface="System Font Regular"/>
              <a:buChar char="–"/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144588" indent="-165100">
              <a:lnSpc>
                <a:spcPct val="100000"/>
              </a:lnSpc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DC3DF2-0DA5-E24F-A8B6-02E5AB55F92A}"/>
              </a:ext>
            </a:extLst>
          </p:cNvPr>
          <p:cNvCxnSpPr>
            <a:cxnSpLocks/>
          </p:cNvCxnSpPr>
          <p:nvPr userDrawn="1"/>
        </p:nvCxnSpPr>
        <p:spPr>
          <a:xfrm>
            <a:off x="6050604" y="719846"/>
            <a:ext cx="5573949" cy="0"/>
          </a:xfrm>
          <a:prstGeom prst="line">
            <a:avLst/>
          </a:prstGeom>
          <a:ln w="508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892E19-99A4-954F-96C8-C518D267A4F4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883BEA-EC5E-9743-9491-BA8D88B6BC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1" y="2930236"/>
            <a:ext cx="4724400" cy="2940628"/>
          </a:xfrm>
        </p:spPr>
        <p:txBody>
          <a:bodyPr/>
          <a:lstStyle>
            <a:lvl1pPr marL="236538" indent="-23653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b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7850" indent="-288925">
              <a:lnSpc>
                <a:spcPct val="100000"/>
              </a:lnSpc>
              <a:buFont typeface="System Font Regular"/>
              <a:buChar char="–"/>
              <a:tabLst/>
              <a:defRPr sz="22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4863" indent="-227013">
              <a:lnSpc>
                <a:spcPct val="100000"/>
              </a:lnSpc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31875" indent="-227013">
              <a:lnSpc>
                <a:spcPct val="100000"/>
              </a:lnSpc>
              <a:buFont typeface="System Font Regular"/>
              <a:buChar char="–"/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206500" indent="-174625">
              <a:lnSpc>
                <a:spcPct val="100000"/>
              </a:lnSpc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7079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444E6C8-F24B-4F49-958F-C3FBA9898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894" y="925770"/>
            <a:ext cx="10789788" cy="62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sz="480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4F3830-0129-8248-A064-4018418EF1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80985" y="6461537"/>
            <a:ext cx="2049969" cy="152865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A976A-BEB6-4F4B-8B5B-D3F83FA8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47DAC-909A-314E-83D3-3AB628830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DC3DF2-0DA5-E24F-A8B6-02E5AB55F92A}"/>
              </a:ext>
            </a:extLst>
          </p:cNvPr>
          <p:cNvCxnSpPr>
            <a:cxnSpLocks/>
          </p:cNvCxnSpPr>
          <p:nvPr userDrawn="1"/>
        </p:nvCxnSpPr>
        <p:spPr>
          <a:xfrm>
            <a:off x="797859" y="719846"/>
            <a:ext cx="10826694" cy="0"/>
          </a:xfrm>
          <a:prstGeom prst="line">
            <a:avLst/>
          </a:prstGeom>
          <a:ln w="508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892E19-99A4-954F-96C8-C518D267A4F4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1883BEA-EC5E-9743-9491-BA8D88B6BC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7177" y="1863436"/>
            <a:ext cx="10802469" cy="4107058"/>
          </a:xfrm>
        </p:spPr>
        <p:txBody>
          <a:bodyPr/>
          <a:lstStyle>
            <a:lvl1pPr marL="236538" indent="-236538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b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77850" indent="-288925">
              <a:lnSpc>
                <a:spcPct val="100000"/>
              </a:lnSpc>
              <a:buFont typeface="System Font Regular"/>
              <a:buChar char="–"/>
              <a:tabLst/>
              <a:defRPr sz="220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4863" indent="-227013">
              <a:lnSpc>
                <a:spcPct val="100000"/>
              </a:lnSpc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031875" indent="-227013">
              <a:lnSpc>
                <a:spcPct val="100000"/>
              </a:lnSpc>
              <a:buFont typeface="System Font Regular"/>
              <a:buChar char="–"/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206500" indent="-174625">
              <a:lnSpc>
                <a:spcPct val="100000"/>
              </a:lnSpc>
              <a:tabLst/>
              <a:defRPr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7735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0028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2444E6C8-F24B-4F49-958F-C3FBA9898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894" y="925770"/>
            <a:ext cx="10789788" cy="62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A976A-BEB6-4F4B-8B5B-D3F83FA8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47DAC-909A-314E-83D3-3AB628830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DC3DF2-0DA5-E24F-A8B6-02E5AB55F92A}"/>
              </a:ext>
            </a:extLst>
          </p:cNvPr>
          <p:cNvCxnSpPr>
            <a:cxnSpLocks/>
          </p:cNvCxnSpPr>
          <p:nvPr userDrawn="1"/>
        </p:nvCxnSpPr>
        <p:spPr>
          <a:xfrm>
            <a:off x="797859" y="719846"/>
            <a:ext cx="10826694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892E19-99A4-954F-96C8-C518D267A4F4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AD75256-90CB-8040-BB3E-D6E05B0DC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0985" y="6461537"/>
            <a:ext cx="2049969" cy="15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49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rgbClr val="4E73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A976A-BEB6-4F4B-8B5B-D3F83FA8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47DAC-909A-314E-83D3-3AB628830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D75256-90CB-8040-BB3E-D6E05B0DC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0985" y="6461537"/>
            <a:ext cx="2049969" cy="1528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F6B67C-E605-924F-BFD7-C90DE2F1371E}"/>
              </a:ext>
            </a:extLst>
          </p:cNvPr>
          <p:cNvSpPr txBox="1"/>
          <p:nvPr userDrawn="1"/>
        </p:nvSpPr>
        <p:spPr>
          <a:xfrm>
            <a:off x="774700" y="-675503"/>
            <a:ext cx="28956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0" dirty="0">
                <a:solidFill>
                  <a:schemeClr val="bg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892E19-99A4-954F-96C8-C518D267A4F4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51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solidFill>
          <a:srgbClr val="8031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A976A-BEB6-4F4B-8B5B-D3F83FA80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47DAC-909A-314E-83D3-3AB628830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892E19-99A4-954F-96C8-C518D267A4F4}"/>
              </a:ext>
            </a:extLst>
          </p:cNvPr>
          <p:cNvCxnSpPr/>
          <p:nvPr userDrawn="1"/>
        </p:nvCxnSpPr>
        <p:spPr>
          <a:xfrm>
            <a:off x="612840" y="6206247"/>
            <a:ext cx="109728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AD75256-90CB-8040-BB3E-D6E05B0DC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0985" y="6461537"/>
            <a:ext cx="2049969" cy="15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8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303B0-C6D6-C542-BCC9-50E820BBD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C7CC2-ABAA-5149-AE81-AEE8852D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519018-7E27-564D-AF3A-27A6E98C1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CB975-3FD0-D94F-B768-F38760177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4706" y="6356350"/>
            <a:ext cx="449094" cy="365125"/>
          </a:xfrm>
          <a:prstGeom prst="rect">
            <a:avLst/>
          </a:prstGeom>
        </p:spPr>
        <p:txBody>
          <a:bodyPr/>
          <a:lstStyle/>
          <a:p>
            <a:fld id="{018EB630-4941-2B42-B900-9433B33C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76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303B0-C6D6-C542-BCC9-50E820BBD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0C7CC2-ABAA-5149-AE81-AEE8852DA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519018-7E27-564D-AF3A-27A6E98C1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CB975-3FD0-D94F-B768-F38760177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04706" y="6356350"/>
            <a:ext cx="449094" cy="365125"/>
          </a:xfrm>
          <a:prstGeom prst="rect">
            <a:avLst/>
          </a:prstGeom>
        </p:spPr>
        <p:txBody>
          <a:bodyPr/>
          <a:lstStyle/>
          <a:p>
            <a:fld id="{018EB630-4941-2B42-B900-9433B33CA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228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97DAB1-ADD5-CC4C-B991-D48AED6A4A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3988" y="168275"/>
            <a:ext cx="5867400" cy="658495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CCB284-8B1D-0F40-89CD-C162B7658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8619" y="508220"/>
            <a:ext cx="5138737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3BF2A-B13C-6D4B-A160-E91479F99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5210" y="2067194"/>
            <a:ext cx="5207245" cy="4351338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D5DB0A27-EB7D-3B41-BE03-300A31A2EE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180803" y="6336895"/>
            <a:ext cx="50583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7616B2-53F5-424A-AEA6-6A52FDD9AB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80985" y="6461537"/>
            <a:ext cx="2049969" cy="15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40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97DAB1-ADD5-CC4C-B991-D48AED6A4A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1557" y="262059"/>
            <a:ext cx="5867400" cy="304384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CCB284-8B1D-0F40-89CD-C162B7658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8619" y="508220"/>
            <a:ext cx="5138737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3BF2A-B13C-6D4B-A160-E91479F99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5210" y="2067194"/>
            <a:ext cx="5207245" cy="4351338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D5DB0A27-EB7D-3B41-BE03-300A31A2EE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180803" y="6336895"/>
            <a:ext cx="50583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7616B2-53F5-424A-AEA6-6A52FDD9AB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80985" y="6461537"/>
            <a:ext cx="2049969" cy="152865"/>
          </a:xfrm>
          <a:prstGeom prst="rect">
            <a:avLst/>
          </a:prstGeom>
        </p:spPr>
      </p:pic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62E086D5-9A74-AF41-B87C-F4B4A3F8B33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1557" y="3493476"/>
            <a:ext cx="5867400" cy="304384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758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490630-7069-514B-AADC-64816CFF2D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EF950B-2A87-9043-ADBB-DC7DF790971B}" type="datetimeFigureOut">
              <a:rPr lang="en-US" smtClean="0"/>
              <a:t>1/31/21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4F40D-C26E-B44C-BB16-1C1E7E55C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951BA-7952-944D-9394-21AD34F10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7680DC-528A-DC45-8AF5-7C57CFB7F7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22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5FE413-CDD7-EA43-B7D8-F39DDF835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1104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5F8BB-47DE-C244-BC20-CAAB1064D3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51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© 2020 / Levi Strauss &amp; Co.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2BCFB3-7AD3-FB48-BC89-56A400C7DD0D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0985" y="6461537"/>
            <a:ext cx="2049969" cy="152866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0D31D31-6391-994E-B8F9-59E623034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354817"/>
            <a:ext cx="10515600" cy="1170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here to edit subhead/secondary content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1F1B3CB-CAA4-BA47-8F84-6C7BED943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58773" y="6336895"/>
            <a:ext cx="505839" cy="365125"/>
          </a:xfrm>
          <a:prstGeom prst="rect">
            <a:avLst/>
          </a:prstGeom>
        </p:spPr>
        <p:txBody>
          <a:bodyPr anchor="ctr"/>
          <a:lstStyle>
            <a:lvl1pPr algn="ctr">
              <a:defRPr sz="1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18EB630-4941-2B42-B900-9433B33CAFD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60" r:id="rId4"/>
    <p:sldLayoutId id="2147483650" r:id="rId5"/>
    <p:sldLayoutId id="2147483661" r:id="rId6"/>
    <p:sldLayoutId id="2147483674" r:id="rId7"/>
    <p:sldLayoutId id="2147483676" r:id="rId8"/>
    <p:sldLayoutId id="2147483677" r:id="rId9"/>
    <p:sldLayoutId id="2147483678" r:id="rId10"/>
    <p:sldLayoutId id="2147483654" r:id="rId11"/>
    <p:sldLayoutId id="2147483679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550475-E0F5-5F4E-904C-0E1EE071B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5062" y="522288"/>
            <a:ext cx="51387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49CA5-9425-8640-A798-EDA3456D6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7924" y="1982788"/>
            <a:ext cx="50958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8284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5" r:id="rId2"/>
    <p:sldLayoutId id="2147483669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>
              <a:lumMod val="65000"/>
              <a:lumOff val="3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DFC7892-9F4D-1B49-8314-9E2C78C53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0454"/>
            <a:ext cx="10515600" cy="1325563"/>
          </a:xfrm>
        </p:spPr>
        <p:txBody>
          <a:bodyPr anchor="t">
            <a:noAutofit/>
          </a:bodyPr>
          <a:lstStyle/>
          <a:p>
            <a:r>
              <a:rPr lang="en-US" sz="4800" dirty="0"/>
              <a:t>Excel Challenge – Question 6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DCCF220-1B40-9F46-84C3-26C48162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41120-AB1A-3045-BC54-BD62BD95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EB630-4941-2B42-B900-9433B33CAFD8}" type="slidenum">
              <a:rPr lang="en-US" smtClean="0"/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668EF1-8137-124E-A8C9-BDD5179904B1}"/>
              </a:ext>
            </a:extLst>
          </p:cNvPr>
          <p:cNvSpPr txBox="1"/>
          <p:nvPr/>
        </p:nvSpPr>
        <p:spPr>
          <a:xfrm>
            <a:off x="719847" y="5095141"/>
            <a:ext cx="102918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Andrew </a:t>
            </a:r>
            <a:r>
              <a:rPr lang="en-US" sz="2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Simor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Submission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542219-FB24-5C47-B0A2-E743027C4CD6}"/>
              </a:ext>
            </a:extLst>
          </p:cNvPr>
          <p:cNvCxnSpPr>
            <a:cxnSpLocks/>
          </p:cNvCxnSpPr>
          <p:nvPr/>
        </p:nvCxnSpPr>
        <p:spPr>
          <a:xfrm>
            <a:off x="913867" y="3098983"/>
            <a:ext cx="51821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0BAB2D8-5C4C-7548-BF79-BCE82A9B1894}"/>
              </a:ext>
            </a:extLst>
          </p:cNvPr>
          <p:cNvSpPr txBox="1"/>
          <p:nvPr/>
        </p:nvSpPr>
        <p:spPr>
          <a:xfrm>
            <a:off x="11857055" y="-5124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13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5A926E-0849-8B43-B263-8B4DFEF92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882579"/>
            <a:ext cx="8651488" cy="1251186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Adjustments to Assessed Value of Insured Assets</a:t>
            </a:r>
            <a:endParaRPr lang="en-US" b="0" i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E8421B1-B39F-3547-ABC7-916504C41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226" y="3615316"/>
            <a:ext cx="3896520" cy="1655762"/>
          </a:xfrm>
        </p:spPr>
        <p:txBody>
          <a:bodyPr>
            <a:normAutofit/>
          </a:bodyPr>
          <a:lstStyle/>
          <a:p>
            <a:r>
              <a:rPr lang="en-US" sz="1800" dirty="0"/>
              <a:t>Focus: </a:t>
            </a:r>
            <a:r>
              <a:rPr lang="en-US" sz="1800" i="1" dirty="0"/>
              <a:t>Adjusting For Crime Rates and Avg. Rainfall in Flooding Regions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747EDF-C609-514F-9F74-8D514A0B0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53D793-D77B-C145-8664-220827A6A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EB630-4941-2B42-B900-9433B33CAFD8}" type="slidenum">
              <a:rPr lang="en-US" smtClean="0"/>
              <a:pPr/>
              <a:t>2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C7A660-ADFA-A647-941D-CEDEC719D747}"/>
              </a:ext>
            </a:extLst>
          </p:cNvPr>
          <p:cNvCxnSpPr/>
          <p:nvPr/>
        </p:nvCxnSpPr>
        <p:spPr>
          <a:xfrm>
            <a:off x="7928043" y="3429000"/>
            <a:ext cx="373542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43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3BDE160-2515-FF4F-AE78-254DF0ED3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52" y="2257776"/>
            <a:ext cx="5819815" cy="32605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A8990-D9D2-4545-852F-C39B5D6143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1780" y="860462"/>
            <a:ext cx="5303168" cy="5137075"/>
          </a:xfrm>
        </p:spPr>
        <p:txBody>
          <a:bodyPr>
            <a:normAutofit/>
          </a:bodyPr>
          <a:lstStyle/>
          <a:p>
            <a:pPr marL="241300" indent="-241300">
              <a:lnSpc>
                <a:spcPct val="100000"/>
              </a:lnSpc>
            </a:pPr>
            <a:r>
              <a:rPr lang="en-US" sz="1600" dirty="0"/>
              <a:t>To account for increased risk of claims in areas with high crime rates, we have explored an approach to adjust insured values by state</a:t>
            </a:r>
          </a:p>
          <a:p>
            <a:pPr marL="241300" indent="-241300">
              <a:lnSpc>
                <a:spcPct val="100000"/>
              </a:lnSpc>
            </a:pPr>
            <a:r>
              <a:rPr lang="en-US" sz="1500" dirty="0"/>
              <a:t>Methodology: </a:t>
            </a:r>
          </a:p>
          <a:p>
            <a:pPr marL="584200" lvl="1" indent="-241300">
              <a:lnSpc>
                <a:spcPct val="100000"/>
              </a:lnSpc>
            </a:pPr>
            <a:r>
              <a:rPr lang="en-US" sz="1500" dirty="0"/>
              <a:t>Inversely adjust the assessed value of insured assets by for a policy based on the residing state’s crime rate vs. the national average.</a:t>
            </a:r>
          </a:p>
          <a:p>
            <a:pPr marL="241300" indent="-241300">
              <a:lnSpc>
                <a:spcPct val="100000"/>
              </a:lnSpc>
            </a:pPr>
            <a:r>
              <a:rPr lang="en-US" sz="1500" dirty="0"/>
              <a:t>The outcome of this exercise projects a +3.1% increase in gross annual revenue, $929,118 in total</a:t>
            </a:r>
          </a:p>
          <a:p>
            <a:pPr marL="584200" lvl="1" indent="-241300">
              <a:lnSpc>
                <a:spcPct val="100000"/>
              </a:lnSpc>
            </a:pPr>
            <a:endParaRPr lang="en-US" sz="15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9DEAB-9D5D-374B-A96A-5E6AFA961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96" y="266168"/>
            <a:ext cx="5383126" cy="1325563"/>
          </a:xfrm>
        </p:spPr>
        <p:txBody>
          <a:bodyPr/>
          <a:lstStyle/>
          <a:p>
            <a:r>
              <a:rPr lang="en-US" sz="3200" dirty="0"/>
              <a:t>Adjusting Total Insured for Above Average Crime Rates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F3795B-E0C4-D441-81E4-0CFDF969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B96323E-D3E0-4D40-A626-4387DBB992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979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A8990-D9D2-4545-852F-C39B5D6143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71942" y="859351"/>
            <a:ext cx="5837560" cy="5137075"/>
          </a:xfrm>
        </p:spPr>
        <p:txBody>
          <a:bodyPr>
            <a:normAutofit/>
          </a:bodyPr>
          <a:lstStyle/>
          <a:p>
            <a:pPr marL="241300" indent="-241300">
              <a:lnSpc>
                <a:spcPct val="100000"/>
              </a:lnSpc>
            </a:pPr>
            <a:r>
              <a:rPr lang="en-US" sz="1400" b="1" dirty="0"/>
              <a:t>Pros:</a:t>
            </a:r>
          </a:p>
          <a:p>
            <a:pPr marL="584200" lvl="1" indent="-241300">
              <a:lnSpc>
                <a:spcPct val="100000"/>
              </a:lnSpc>
            </a:pPr>
            <a:r>
              <a:rPr lang="en-US" sz="1400" dirty="0"/>
              <a:t>As previously stated, we expect a +3.1% increase in gross annual revenue, $929k in total incremental gross revenue. </a:t>
            </a:r>
          </a:p>
          <a:p>
            <a:pPr marL="1041400" lvl="2" indent="-241300">
              <a:lnSpc>
                <a:spcPct val="100000"/>
              </a:lnSpc>
            </a:pPr>
            <a:r>
              <a:rPr lang="en-US" sz="1000" dirty="0"/>
              <a:t>AGR = 0.1% * total insured * 12 Months</a:t>
            </a:r>
          </a:p>
          <a:p>
            <a:pPr marL="584200" lvl="1" indent="-241300">
              <a:lnSpc>
                <a:spcPct val="100000"/>
              </a:lnSpc>
            </a:pPr>
            <a:r>
              <a:rPr lang="en-US" sz="1400" dirty="0"/>
              <a:t>Methodology yields increases in insured value across all states</a:t>
            </a:r>
            <a:endParaRPr lang="en-US" sz="1400" b="1" dirty="0"/>
          </a:p>
          <a:p>
            <a:pPr marL="241300" indent="-241300">
              <a:lnSpc>
                <a:spcPct val="100000"/>
              </a:lnSpc>
            </a:pPr>
            <a:r>
              <a:rPr lang="en-US" sz="1400" b="1" dirty="0"/>
              <a:t>Cons:</a:t>
            </a:r>
            <a:endParaRPr lang="en-US" sz="1400" dirty="0"/>
          </a:p>
          <a:p>
            <a:pPr marL="584200" lvl="1" indent="-241300">
              <a:lnSpc>
                <a:spcPct val="100000"/>
              </a:lnSpc>
            </a:pPr>
            <a:r>
              <a:rPr lang="en-US" sz="1400" dirty="0"/>
              <a:t>The average increase in insured value is disproportionately low for educational businesses </a:t>
            </a:r>
          </a:p>
          <a:p>
            <a:pPr marL="1041400" lvl="2" indent="-241300">
              <a:lnSpc>
                <a:spcPct val="100000"/>
              </a:lnSpc>
            </a:pPr>
            <a:r>
              <a:rPr lang="en-US" sz="1400" dirty="0"/>
              <a:t>This limits revenue increases for Educational Business Types while we see increases &gt;=3% across all other business types</a:t>
            </a:r>
          </a:p>
          <a:p>
            <a:pPr marL="241300" indent="-241300">
              <a:lnSpc>
                <a:spcPct val="100000"/>
              </a:lnSpc>
            </a:pPr>
            <a:r>
              <a:rPr lang="en-US" sz="1400" b="1" dirty="0"/>
              <a:t>In summary:</a:t>
            </a:r>
          </a:p>
          <a:p>
            <a:pPr marL="584200" lvl="1" indent="-241300">
              <a:lnSpc>
                <a:spcPct val="100000"/>
              </a:lnSpc>
            </a:pPr>
            <a:r>
              <a:rPr lang="en-US" sz="1400" dirty="0"/>
              <a:t>We recommend applying adjustments for crime rate with a second look into our methodology to further adjust increases for businesses in the educational function in order to fairly impact businesses across the board.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9DEAB-9D5D-374B-A96A-5E6AFA961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602"/>
            <a:ext cx="5763995" cy="1325563"/>
          </a:xfrm>
        </p:spPr>
        <p:txBody>
          <a:bodyPr/>
          <a:lstStyle/>
          <a:p>
            <a:r>
              <a:rPr lang="en-US" sz="3200" dirty="0"/>
              <a:t>Outcome of Crime Adjustment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F3795B-E0C4-D441-81E4-0CFDF969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B96323E-D3E0-4D40-A626-4387DBB992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61C9F41-7B64-3743-8097-468F8EB02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55" y="1275200"/>
            <a:ext cx="4069976" cy="24335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A868AD4-EBEC-784E-B4BF-5A21A02BA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55" y="3841944"/>
            <a:ext cx="4449042" cy="230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798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A8990-D9D2-4545-852F-C39B5D6143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64612" y="828827"/>
            <a:ext cx="5584801" cy="5137075"/>
          </a:xfrm>
        </p:spPr>
        <p:txBody>
          <a:bodyPr>
            <a:normAutofit/>
          </a:bodyPr>
          <a:lstStyle/>
          <a:p>
            <a:pPr marL="241300" indent="-241300">
              <a:lnSpc>
                <a:spcPct val="100000"/>
              </a:lnSpc>
            </a:pPr>
            <a:r>
              <a:rPr lang="en-US" sz="1600" dirty="0"/>
              <a:t>To account for increased risk of flood damage in states with above average rainfall we have explored an approach to adjust insured values by state</a:t>
            </a:r>
          </a:p>
          <a:p>
            <a:pPr marL="241300" indent="-241300">
              <a:lnSpc>
                <a:spcPct val="100000"/>
              </a:lnSpc>
            </a:pPr>
            <a:r>
              <a:rPr lang="en-US" sz="1500" dirty="0"/>
              <a:t>Methodology: </a:t>
            </a:r>
          </a:p>
          <a:p>
            <a:pPr marL="584200" lvl="1" indent="-241300">
              <a:lnSpc>
                <a:spcPct val="100000"/>
              </a:lnSpc>
            </a:pPr>
            <a:r>
              <a:rPr lang="en-US" sz="1500" dirty="0"/>
              <a:t>Adjust the assessed value of insured assets by for a policy based on the respective state’s avg. annual rainfall vs. the national average if the asset is in a flooding zone</a:t>
            </a:r>
          </a:p>
          <a:p>
            <a:pPr marL="241300" indent="-241300">
              <a:lnSpc>
                <a:spcPct val="100000"/>
              </a:lnSpc>
            </a:pPr>
            <a:r>
              <a:rPr lang="en-US" sz="1500" dirty="0"/>
              <a:t>The outcome of this exercise projects a ~$1.31M increase in total insured amount for our current assets</a:t>
            </a:r>
          </a:p>
          <a:p>
            <a:pPr marL="584200" lvl="1" indent="-241300">
              <a:lnSpc>
                <a:spcPct val="100000"/>
              </a:lnSpc>
            </a:pPr>
            <a:endParaRPr lang="en-US" sz="15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9DEAB-9D5D-374B-A96A-5E6AFA961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539" y="408101"/>
            <a:ext cx="5191215" cy="1325563"/>
          </a:xfrm>
        </p:spPr>
        <p:txBody>
          <a:bodyPr/>
          <a:lstStyle/>
          <a:p>
            <a:r>
              <a:rPr lang="en-US" sz="3200" dirty="0"/>
              <a:t>Adjusting For High Rainfall In Flood Risk Policies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F3795B-E0C4-D441-81E4-0CFDF969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B96323E-D3E0-4D40-A626-4387DBB992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69E0C2-40E6-B74B-85EE-991156A73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539" y="2232101"/>
            <a:ext cx="5561073" cy="332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9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A8990-D9D2-4545-852F-C39B5D6143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8169" y="1370664"/>
            <a:ext cx="10471580" cy="5137075"/>
          </a:xfrm>
        </p:spPr>
        <p:txBody>
          <a:bodyPr>
            <a:normAutofit/>
          </a:bodyPr>
          <a:lstStyle/>
          <a:p>
            <a:pPr marL="241300" indent="-241300">
              <a:lnSpc>
                <a:spcPct val="100000"/>
              </a:lnSpc>
            </a:pPr>
            <a:r>
              <a:rPr lang="en-US" sz="1400" b="1" dirty="0"/>
              <a:t>Pros:</a:t>
            </a:r>
          </a:p>
          <a:p>
            <a:pPr marL="584200" lvl="1" indent="-241300">
              <a:lnSpc>
                <a:spcPct val="100000"/>
              </a:lnSpc>
            </a:pPr>
            <a:r>
              <a:rPr lang="en-US" sz="1400" dirty="0"/>
              <a:t>Increases in insured amounts only impact 3 states: MI, MN, and WI</a:t>
            </a:r>
            <a:endParaRPr lang="en-US" sz="1000" dirty="0"/>
          </a:p>
          <a:p>
            <a:pPr marL="584200" lvl="1" indent="-241300">
              <a:lnSpc>
                <a:spcPct val="100000"/>
              </a:lnSpc>
            </a:pPr>
            <a:r>
              <a:rPr lang="en-US" sz="1400" dirty="0"/>
              <a:t>Regionally, this means we will see increases in annual revenue for both the Central and Midwest </a:t>
            </a:r>
          </a:p>
          <a:p>
            <a:pPr marL="584200" lvl="1" indent="-241300">
              <a:lnSpc>
                <a:spcPct val="100000"/>
              </a:lnSpc>
            </a:pPr>
            <a:endParaRPr lang="en-US" sz="1400" dirty="0"/>
          </a:p>
          <a:p>
            <a:pPr marL="584200" lvl="1" indent="-241300">
              <a:lnSpc>
                <a:spcPct val="100000"/>
              </a:lnSpc>
            </a:pPr>
            <a:endParaRPr lang="en-US" sz="1400" dirty="0"/>
          </a:p>
          <a:p>
            <a:pPr marL="584200" lvl="1" indent="-241300">
              <a:lnSpc>
                <a:spcPct val="100000"/>
              </a:lnSpc>
            </a:pPr>
            <a:endParaRPr lang="en-US" sz="1400" dirty="0"/>
          </a:p>
          <a:p>
            <a:pPr marL="584200" lvl="1" indent="-241300">
              <a:lnSpc>
                <a:spcPct val="100000"/>
              </a:lnSpc>
            </a:pPr>
            <a:endParaRPr lang="en-US" sz="1400" dirty="0"/>
          </a:p>
          <a:p>
            <a:pPr marL="584200" lvl="1" indent="-241300">
              <a:lnSpc>
                <a:spcPct val="100000"/>
              </a:lnSpc>
            </a:pPr>
            <a:endParaRPr lang="en-US" sz="1400" dirty="0"/>
          </a:p>
          <a:p>
            <a:pPr marL="584200" lvl="1" indent="-241300">
              <a:lnSpc>
                <a:spcPct val="100000"/>
              </a:lnSpc>
            </a:pPr>
            <a:endParaRPr lang="en-US" sz="1400" dirty="0"/>
          </a:p>
          <a:p>
            <a:pPr marL="584200" lvl="1" indent="-241300">
              <a:lnSpc>
                <a:spcPct val="100000"/>
              </a:lnSpc>
            </a:pPr>
            <a:endParaRPr lang="en-US" sz="1400" dirty="0"/>
          </a:p>
          <a:p>
            <a:pPr marL="584200" lvl="1" indent="-241300">
              <a:lnSpc>
                <a:spcPct val="100000"/>
              </a:lnSpc>
            </a:pPr>
            <a:endParaRPr lang="en-US" sz="1400" dirty="0"/>
          </a:p>
          <a:p>
            <a:pPr marL="584200" lvl="1" indent="-241300">
              <a:lnSpc>
                <a:spcPct val="100000"/>
              </a:lnSpc>
            </a:pPr>
            <a:endParaRPr lang="en-US" sz="1400" dirty="0"/>
          </a:p>
          <a:p>
            <a:pPr marL="342900" lvl="1" indent="0">
              <a:lnSpc>
                <a:spcPct val="100000"/>
              </a:lnSpc>
              <a:buNone/>
            </a:pPr>
            <a:endParaRPr lang="en-US" sz="1400" dirty="0"/>
          </a:p>
          <a:p>
            <a:pPr marL="241300" indent="-241300">
              <a:lnSpc>
                <a:spcPct val="100000"/>
              </a:lnSpc>
            </a:pPr>
            <a:r>
              <a:rPr lang="en-US" sz="1400" b="1" dirty="0"/>
              <a:t>Cons:</a:t>
            </a:r>
            <a:endParaRPr lang="en-US" sz="1400" dirty="0"/>
          </a:p>
          <a:p>
            <a:pPr marL="584200" lvl="1" indent="-241300">
              <a:lnSpc>
                <a:spcPct val="100000"/>
              </a:lnSpc>
            </a:pPr>
            <a:r>
              <a:rPr lang="en-US" sz="1400" dirty="0"/>
              <a:t>The methodology used may be applying adjustments at too low of a granularity:</a:t>
            </a:r>
          </a:p>
          <a:p>
            <a:pPr marL="1041400" lvl="2" indent="-241300">
              <a:lnSpc>
                <a:spcPct val="100000"/>
              </a:lnSpc>
            </a:pPr>
            <a:r>
              <a:rPr lang="en-US" sz="1400" dirty="0"/>
              <a:t>If a policy lies within a high rainfall area, but the state it is in does not we are missing potential increases that could prove to be liabilities.</a:t>
            </a:r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49DEAB-9D5D-374B-A96A-5E6AFA961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169" y="107416"/>
            <a:ext cx="6026462" cy="1325563"/>
          </a:xfrm>
        </p:spPr>
        <p:txBody>
          <a:bodyPr/>
          <a:lstStyle/>
          <a:p>
            <a:r>
              <a:rPr lang="en-US" sz="3200" dirty="0"/>
              <a:t>Outcome of Rainfall Adjustments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F3795B-E0C4-D441-81E4-0CFDF969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2020 / Levi Strauss &amp; Co.</a:t>
            </a:r>
            <a:endParaRPr lang="en-US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B96323E-D3E0-4D40-A626-4387DBB992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018EB630-4941-2B42-B900-9433B33CAFD8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3EBEA6-5FF6-504A-97E8-588C56956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67" y="2265132"/>
            <a:ext cx="4429618" cy="27132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89E1A7-FE79-B743-B1A0-6A82BF8A5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328" y="2265132"/>
            <a:ext cx="4534675" cy="271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28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SCO Palette 1">
      <a:dk1>
        <a:srgbClr val="797979"/>
      </a:dk1>
      <a:lt1>
        <a:srgbClr val="FFFFFF"/>
      </a:lt1>
      <a:dk2>
        <a:srgbClr val="002856"/>
      </a:dk2>
      <a:lt2>
        <a:srgbClr val="E7E6E6"/>
      </a:lt2>
      <a:accent1>
        <a:srgbClr val="4E738A"/>
      </a:accent1>
      <a:accent2>
        <a:srgbClr val="803034"/>
      </a:accent2>
      <a:accent3>
        <a:srgbClr val="002856"/>
      </a:accent3>
      <a:accent4>
        <a:srgbClr val="B68150"/>
      </a:accent4>
      <a:accent5>
        <a:srgbClr val="5E5E5E"/>
      </a:accent5>
      <a:accent6>
        <a:srgbClr val="C0C0C0"/>
      </a:accent6>
      <a:hlink>
        <a:srgbClr val="4E738A"/>
      </a:hlink>
      <a:folHlink>
        <a:srgbClr val="80303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0 LSCO CORPORATE TEMPLATE" id="{03CD3528-BB60-C947-901D-D84D34E8CF12}" vid="{17FB01F2-58AF-D74A-B380-C039A84799A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0 LSCO CORPORATE TEMPLATE" id="{03CD3528-BB60-C947-901D-D84D34E8CF12}" vid="{1A827F4C-522D-4F40-A29C-D6BB81B062B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236</TotalTime>
  <Words>453</Words>
  <Application>Microsoft Macintosh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System Font Regular</vt:lpstr>
      <vt:lpstr>Office Theme</vt:lpstr>
      <vt:lpstr>Custom Design</vt:lpstr>
      <vt:lpstr>Excel Challenge – Question 6</vt:lpstr>
      <vt:lpstr>Adjustments to Assessed Value of Insured Assets</vt:lpstr>
      <vt:lpstr>Adjusting Total Insured for Above Average Crime Rates</vt:lpstr>
      <vt:lpstr>Outcome of Crime Adjustment</vt:lpstr>
      <vt:lpstr>Adjusting For High Rainfall In Flood Risk Policies</vt:lpstr>
      <vt:lpstr>Outcome of Rainfall Adjustments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Challenge – Question 3</dc:title>
  <dc:creator>Simor, Andrew</dc:creator>
  <cp:lastModifiedBy>Simor, Andrew</cp:lastModifiedBy>
  <cp:revision>22</cp:revision>
  <dcterms:created xsi:type="dcterms:W3CDTF">2021-01-27T20:14:41Z</dcterms:created>
  <dcterms:modified xsi:type="dcterms:W3CDTF">2021-02-01T01:25:14Z</dcterms:modified>
</cp:coreProperties>
</file>